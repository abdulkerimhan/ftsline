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4ad44f32f94270" /><Relationship Type="http://schemas.openxmlformats.org/officeDocument/2006/relationships/extended-properties" Target="/docProps/app.xml" Id="R76fa68a5c83e4b45" /><Relationship Type="http://schemas.openxmlformats.org/officeDocument/2006/relationships/officeDocument" Target="/ppt/presentation.xml" Id="Rbdcd0ee7ece74a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c4a5a34f3243d9"/>
  </p:sldMasterIdLst>
  <p:notesMasterIdLst>
    <p:notesMasterId xmlns:r="http://schemas.openxmlformats.org/officeDocument/2006/relationships" r:id="R6dbf858062d34214"/>
  </p:notesMasterIdLst>
  <p:sldIdLst>
    <p:sldId xmlns:r="http://schemas.openxmlformats.org/officeDocument/2006/relationships" id="256" r:id="R7f598180f4cd441e"/>
    <p:sldId xmlns:r="http://schemas.openxmlformats.org/officeDocument/2006/relationships" id="257" r:id="Rd213c48687df4289"/>
    <p:sldId xmlns:r="http://schemas.openxmlformats.org/officeDocument/2006/relationships" id="258" r:id="Rad7d4c0226634666"/>
    <p:sldId xmlns:r="http://schemas.openxmlformats.org/officeDocument/2006/relationships" id="259" r:id="R230d2ef7ce8c4df3"/>
    <p:sldId xmlns:r="http://schemas.openxmlformats.org/officeDocument/2006/relationships" id="260" r:id="Rcf3dcfa55ba745c0"/>
    <p:sldId xmlns:r="http://schemas.openxmlformats.org/officeDocument/2006/relationships" id="261" r:id="R409363b0349742c9"/>
    <p:sldId xmlns:r="http://schemas.openxmlformats.org/officeDocument/2006/relationships" id="262" r:id="R4d515efaee69473e"/>
    <p:sldId xmlns:r="http://schemas.openxmlformats.org/officeDocument/2006/relationships" id="263" r:id="R6a2804c18d29495b"/>
    <p:sldId xmlns:r="http://schemas.openxmlformats.org/officeDocument/2006/relationships" id="264" r:id="Rc9c9ef590dd74b42"/>
    <p:sldId xmlns:r="http://schemas.openxmlformats.org/officeDocument/2006/relationships" id="265" r:id="R8678061500ee47be"/>
    <p:sldId xmlns:r="http://schemas.openxmlformats.org/officeDocument/2006/relationships" id="266" r:id="R188b46c5db4d4026"/>
    <p:sldId xmlns:r="http://schemas.openxmlformats.org/officeDocument/2006/relationships" id="267" r:id="Ra1596e8be2ca43aa"/>
    <p:sldId xmlns:r="http://schemas.openxmlformats.org/officeDocument/2006/relationships" id="268" r:id="R7377313bf8824a7b"/>
    <p:sldId xmlns:r="http://schemas.openxmlformats.org/officeDocument/2006/relationships" id="269" r:id="Rb47f8d693de243ef"/>
    <p:sldId xmlns:r="http://schemas.openxmlformats.org/officeDocument/2006/relationships" id="270" r:id="Rcf097e11594b4654"/>
    <p:sldId xmlns:r="http://schemas.openxmlformats.org/officeDocument/2006/relationships" id="271" r:id="Rb680f4a428274587"/>
    <p:sldId xmlns:r="http://schemas.openxmlformats.org/officeDocument/2006/relationships" id="272" r:id="R64ce3b54863f4035"/>
    <p:sldId xmlns:r="http://schemas.openxmlformats.org/officeDocument/2006/relationships" id="273" r:id="R63661edfccc94840"/>
    <p:sldId xmlns:r="http://schemas.openxmlformats.org/officeDocument/2006/relationships" id="274" r:id="Rf809deefb5124727"/>
    <p:sldId xmlns:r="http://schemas.openxmlformats.org/officeDocument/2006/relationships" id="275" r:id="R3e4b977221b0414a"/>
    <p:sldId xmlns:r="http://schemas.openxmlformats.org/officeDocument/2006/relationships" id="276" r:id="Rae412f53fe9b4622"/>
    <p:sldId xmlns:r="http://schemas.openxmlformats.org/officeDocument/2006/relationships" id="277" r:id="R3a4b585de5474b54"/>
    <p:sldId xmlns:r="http://schemas.openxmlformats.org/officeDocument/2006/relationships" id="278" r:id="R4220d0a8ff5a414f"/>
    <p:sldId xmlns:r="http://schemas.openxmlformats.org/officeDocument/2006/relationships" id="279" r:id="R657142af63194015"/>
    <p:sldId xmlns:r="http://schemas.openxmlformats.org/officeDocument/2006/relationships" id="280" r:id="Rd0dde74490a8409e"/>
    <p:sldId xmlns:r="http://schemas.openxmlformats.org/officeDocument/2006/relationships" id="281" r:id="R57d257e248d54ba4"/>
    <p:sldId xmlns:r="http://schemas.openxmlformats.org/officeDocument/2006/relationships" id="282" r:id="R297b7b96add142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9d0472baaf4957" /><Relationship Type="http://schemas.openxmlformats.org/officeDocument/2006/relationships/slideMaster" Target="/ppt/slideMasters/slideMaster1.xml" Id="Rf7c4a5a34f3243d9" /><Relationship Type="http://schemas.openxmlformats.org/officeDocument/2006/relationships/notesMaster" Target="/ppt/notesMasters/notesMaster1.xml" Id="R6dbf858062d34214" /><Relationship Type="http://schemas.openxmlformats.org/officeDocument/2006/relationships/presProps" Target="/ppt/presProps.xml" Id="Rfac300e7a66b4983" /><Relationship Type="http://schemas.openxmlformats.org/officeDocument/2006/relationships/tableStyles" Target="/ppt/tableStyles.xml" Id="Rf31cbbc9517141bd" /><Relationship Type="http://schemas.openxmlformats.org/officeDocument/2006/relationships/slide" Target="/ppt/slides/slide1.xml" Id="R7f598180f4cd441e" /><Relationship Type="http://schemas.openxmlformats.org/officeDocument/2006/relationships/slide" Target="/ppt/slides/slide2.xml" Id="Rd213c48687df4289" /><Relationship Type="http://schemas.openxmlformats.org/officeDocument/2006/relationships/slide" Target="/ppt/slides/slide3.xml" Id="Rad7d4c0226634666" /><Relationship Type="http://schemas.openxmlformats.org/officeDocument/2006/relationships/slide" Target="/ppt/slides/slide4.xml" Id="R230d2ef7ce8c4df3" /><Relationship Type="http://schemas.openxmlformats.org/officeDocument/2006/relationships/slide" Target="/ppt/slides/slide5.xml" Id="Rcf3dcfa55ba745c0" /><Relationship Type="http://schemas.openxmlformats.org/officeDocument/2006/relationships/slide" Target="/ppt/slides/slide6.xml" Id="R409363b0349742c9" /><Relationship Type="http://schemas.openxmlformats.org/officeDocument/2006/relationships/slide" Target="/ppt/slides/slide7.xml" Id="R4d515efaee69473e" /><Relationship Type="http://schemas.openxmlformats.org/officeDocument/2006/relationships/slide" Target="/ppt/slides/slide8.xml" Id="R6a2804c18d29495b" /><Relationship Type="http://schemas.openxmlformats.org/officeDocument/2006/relationships/slide" Target="/ppt/slides/slide9.xml" Id="Rc9c9ef590dd74b42" /><Relationship Type="http://schemas.openxmlformats.org/officeDocument/2006/relationships/slide" Target="/ppt/slides/slide10.xml" Id="R8678061500ee47be" /><Relationship Type="http://schemas.openxmlformats.org/officeDocument/2006/relationships/slide" Target="/ppt/slides/slide11.xml" Id="R188b46c5db4d4026" /><Relationship Type="http://schemas.openxmlformats.org/officeDocument/2006/relationships/slide" Target="/ppt/slides/slide12.xml" Id="Ra1596e8be2ca43aa" /><Relationship Type="http://schemas.openxmlformats.org/officeDocument/2006/relationships/slide" Target="/ppt/slides/slide13.xml" Id="R7377313bf8824a7b" /><Relationship Type="http://schemas.openxmlformats.org/officeDocument/2006/relationships/slide" Target="/ppt/slides/slide14.xml" Id="Rb47f8d693de243ef" /><Relationship Type="http://schemas.openxmlformats.org/officeDocument/2006/relationships/slide" Target="/ppt/slides/slide15.xml" Id="Rcf097e11594b4654" /><Relationship Type="http://schemas.openxmlformats.org/officeDocument/2006/relationships/slide" Target="/ppt/slides/slide16.xml" Id="Rb680f4a428274587" /><Relationship Type="http://schemas.openxmlformats.org/officeDocument/2006/relationships/slide" Target="/ppt/slides/slide17.xml" Id="R64ce3b54863f4035" /><Relationship Type="http://schemas.openxmlformats.org/officeDocument/2006/relationships/slide" Target="/ppt/slides/slide18.xml" Id="R63661edfccc94840" /><Relationship Type="http://schemas.openxmlformats.org/officeDocument/2006/relationships/slide" Target="/ppt/slides/slide19.xml" Id="Rf809deefb5124727" /><Relationship Type="http://schemas.openxmlformats.org/officeDocument/2006/relationships/slide" Target="/ppt/slides/slide20.xml" Id="R3e4b977221b0414a" /><Relationship Type="http://schemas.openxmlformats.org/officeDocument/2006/relationships/slide" Target="/ppt/slides/slide21.xml" Id="Rae412f53fe9b4622" /><Relationship Type="http://schemas.openxmlformats.org/officeDocument/2006/relationships/slide" Target="/ppt/slides/slide22.xml" Id="R3a4b585de5474b54" /><Relationship Type="http://schemas.openxmlformats.org/officeDocument/2006/relationships/slide" Target="/ppt/slides/slide23.xml" Id="R4220d0a8ff5a414f" /><Relationship Type="http://schemas.openxmlformats.org/officeDocument/2006/relationships/slide" Target="/ppt/slides/slide24.xml" Id="R657142af63194015" /><Relationship Type="http://schemas.openxmlformats.org/officeDocument/2006/relationships/slide" Target="/ppt/slides/slide25.xml" Id="Rd0dde74490a8409e" /><Relationship Type="http://schemas.openxmlformats.org/officeDocument/2006/relationships/slide" Target="/ppt/slides/slide26.xml" Id="R57d257e248d54ba4" /><Relationship Type="http://schemas.openxmlformats.org/officeDocument/2006/relationships/slide" Target="/ppt/slides/slide27.xml" Id="R297b7b96add142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c145d91ebb4e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bba5343f244fb4" /><Relationship Type="http://schemas.openxmlformats.org/officeDocument/2006/relationships/notesMaster" Target="/ppt/notesMasters/notesMaster1.xml" Id="Rcd1a78f4e79045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e2cd6843a844eb" /><Relationship Type="http://schemas.openxmlformats.org/officeDocument/2006/relationships/notesMaster" Target="/ppt/notesMasters/notesMaster1.xml" Id="R62fdb1b54b9843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2bfeb9fa61406c" /><Relationship Type="http://schemas.openxmlformats.org/officeDocument/2006/relationships/notesMaster" Target="/ppt/notesMasters/notesMaster1.xml" Id="R432fb845792c4d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c3b932f9da4a79" /><Relationship Type="http://schemas.openxmlformats.org/officeDocument/2006/relationships/notesMaster" Target="/ppt/notesMasters/notesMaster1.xml" Id="R30f31e5bed7e43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0531d6ea784bfa" /><Relationship Type="http://schemas.openxmlformats.org/officeDocument/2006/relationships/notesMaster" Target="/ppt/notesMasters/notesMaster1.xml" Id="R70f50fd488b547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475dd28392422a" /><Relationship Type="http://schemas.openxmlformats.org/officeDocument/2006/relationships/notesMaster" Target="/ppt/notesMasters/notesMaster1.xml" Id="Re6872b559e2d49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3c6abb05a04e00" /><Relationship Type="http://schemas.openxmlformats.org/officeDocument/2006/relationships/notesMaster" Target="/ppt/notesMasters/notesMaster1.xml" Id="Rb196d553328d44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0e8fba04c54f78" /><Relationship Type="http://schemas.openxmlformats.org/officeDocument/2006/relationships/notesMaster" Target="/ppt/notesMasters/notesMaster1.xml" Id="Re15c0ce5c2424f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893e12f2d2486d" /><Relationship Type="http://schemas.openxmlformats.org/officeDocument/2006/relationships/notesMaster" Target="/ppt/notesMasters/notesMaster1.xml" Id="R12e087c02b7c43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a9f8d7b6414910" /><Relationship Type="http://schemas.openxmlformats.org/officeDocument/2006/relationships/notesMaster" Target="/ppt/notesMasters/notesMaster1.xml" Id="Rb8fd4ea7833e49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8f96c421eb4550" /><Relationship Type="http://schemas.openxmlformats.org/officeDocument/2006/relationships/notesMaster" Target="/ppt/notesMasters/notesMaster1.xml" Id="R15a7439a54e348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8c814c89cb4c69" /><Relationship Type="http://schemas.openxmlformats.org/officeDocument/2006/relationships/notesMaster" Target="/ppt/notesMasters/notesMaster1.xml" Id="Rf8450a825ccf46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660632b6054871" /><Relationship Type="http://schemas.openxmlformats.org/officeDocument/2006/relationships/notesMaster" Target="/ppt/notesMasters/notesMaster1.xml" Id="R01dc703772a841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c4dc327e7b4d40" /><Relationship Type="http://schemas.openxmlformats.org/officeDocument/2006/relationships/notesMaster" Target="/ppt/notesMasters/notesMaster1.xml" Id="R723ceb335f4944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66e5a7774c46c0" /><Relationship Type="http://schemas.openxmlformats.org/officeDocument/2006/relationships/notesMaster" Target="/ppt/notesMasters/notesMaster1.xml" Id="R89f615b719a046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6b1f3407e344fd" /><Relationship Type="http://schemas.openxmlformats.org/officeDocument/2006/relationships/notesMaster" Target="/ppt/notesMasters/notesMaster1.xml" Id="R33a4bb3734bf48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0684c2eb0f47ec" /><Relationship Type="http://schemas.openxmlformats.org/officeDocument/2006/relationships/notesMaster" Target="/ppt/notesMasters/notesMaster1.xml" Id="Rff10677a089142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d397ec583f94330" /><Relationship Type="http://schemas.openxmlformats.org/officeDocument/2006/relationships/notesMaster" Target="/ppt/notesMasters/notesMaster1.xml" Id="R04b13e235f624c7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676dd07903a4162" /><Relationship Type="http://schemas.openxmlformats.org/officeDocument/2006/relationships/notesMaster" Target="/ppt/notesMasters/notesMaster1.xml" Id="R01294b277df1411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aea2652726746e8" /><Relationship Type="http://schemas.openxmlformats.org/officeDocument/2006/relationships/notesMaster" Target="/ppt/notesMasters/notesMaster1.xml" Id="R5d4627a376d948f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c0bc5c8603347a5" /><Relationship Type="http://schemas.openxmlformats.org/officeDocument/2006/relationships/notesMaster" Target="/ppt/notesMasters/notesMaster1.xml" Id="R485382c511d94ef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3a37f56903945ed" /><Relationship Type="http://schemas.openxmlformats.org/officeDocument/2006/relationships/notesMaster" Target="/ppt/notesMasters/notesMaster1.xml" Id="R924b33388e7b4b5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44431f9a0cd4792" /><Relationship Type="http://schemas.openxmlformats.org/officeDocument/2006/relationships/notesMaster" Target="/ppt/notesMasters/notesMaster1.xml" Id="R2caebe10d794475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898e56b790c4b8e" /><Relationship Type="http://schemas.openxmlformats.org/officeDocument/2006/relationships/notesMaster" Target="/ppt/notesMasters/notesMaster1.xml" Id="Rbdfdf3ec06a14c3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8e3f4e350484b7e" /><Relationship Type="http://schemas.openxmlformats.org/officeDocument/2006/relationships/notesMaster" Target="/ppt/notesMasters/notesMaster1.xml" Id="Rfed8b3fdbd774f7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d607907697a49ef" /><Relationship Type="http://schemas.openxmlformats.org/officeDocument/2006/relationships/notesMaster" Target="/ppt/notesMasters/notesMaster1.xml" Id="R4f11c0623494432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993bf53b1384bf8" /><Relationship Type="http://schemas.openxmlformats.org/officeDocument/2006/relationships/notesMaster" Target="/ppt/notesMasters/notesMaster1.xml" Id="R09ae09ed0ca64c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FTSLine’ı yalnızca bir alışveriş sitesi değil, ticaret ve network operasyonlarını aynı omurgada birleştiren bir platform olarak konumlandırın.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C:\Users\abdul\Documents\Codex\2026-07-22\in-abdulkerimhan-ftsline-trace-the-finance\work\ftsline\frontend\public\ftsline.png</a:t>
            </a:r>
          </a:p>
          <a:p xmlns:a="http://schemas.openxmlformats.org/drawingml/2006/main">
            <a:r>
              <a:t>- C:\Users\abdul\Documents\Codex\2026-07-22\in-abdulkerimhan-ftsline-trace-the-finance\work\ftsline\README.md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C:\Users\abdul\Documents\Codex\2026-07-22\in-abdulkerimhan-ftsline-trace-the-finance\work\ftsline\frontend\src\App.jsx</a:t>
            </a:r>
          </a:p>
          <a:p xmlns:a="http://schemas.openxmlformats.org/drawingml/2006/main">
            <a:r>
              <a:t>- C:\Users\abdul\Documents\Codex\2026-07-22\in-abdulkerimhan-ftsline-trace-the-finance\work\ftsline\backend\src\server.js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C:\Users\abdul\Documents\Codex\2026-07-22\in-abdulkerimhan-ftsline-trace-the-finance\work\ftsline\frontend\src</a:t>
            </a:r>
          </a:p>
          <a:p xmlns:a="http://schemas.openxmlformats.org/drawingml/2006/main">
            <a:r>
              <a:t>- C:\Users\abdul\Documents\Codex\2026-07-22\in-abdulkerimhan-ftsline-trace-the-finance\work\ftsline\backend\src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C:\Users\abdul\Documents\Codex\2026-07-22\in-abdulkerimhan-ftsline-trace-the-finance\work\ftsline\backend\src\routes\orderRoutes.js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C:\Users\abdul\Documents\Codex\2026-07-22\in-abdulkerimhan-ftsline-trace-the-finance\work\ftsline\backend\src\services\licensePlanService.js</a:t>
            </a:r>
          </a:p>
          <a:p xmlns:a="http://schemas.openxmlformats.org/drawingml/2006/main">
            <a:r>
              <a:t>- C:\Users\abdul\Documents\Codex\2026-07-22\in-abdulkerimhan-ftsline-trace-the-finance\work\ftsline\backend\src\routes\earningRoutes.js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C:\Users\abdul\Documents\Codex\2026-07-22\in-abdulkerimhan-ftsline-trace-the-finance\work\ftsline\frontend\src\App.jsx</a:t>
            </a:r>
          </a:p>
          <a:p xmlns:a="http://schemas.openxmlformats.org/drawingml/2006/main">
            <a:r>
              <a:t>- C:\Users\abdul\Documents\Codex\2026-07-22\in-abdulkerimhan-ftsline-trace-the-finance\work\ftsline\backend\src\middleware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C:\Users\abdul\Documents\Codex\2026-07-22\in-abdulkerimhan-ftsline-trace-the-finance\work\ftsline\backend\src\services\productNetworkBonusService.js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C:\Users\abdul\Documents\Codex\2026-07-22\in-abdulkerimhan-ftsline-trace-the-finance\work\ftsline\backend\src\services\productNetworkRules.js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C:\Users\abdul\Documents\Codex\2026-07-22\in-abdulkerimhan-ftsline-trace-the-finance\work\ftsline\backend\src\services\licensePlanService.js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C:\Users\abdul\Documents\Codex\2026-07-22\in-abdulkerimhan-ftsline-trace-the-finance\work\ftsline\backend\src\services\unilevelBonusService.js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C:\Users\abdul\Documents\Codex\2026-07-22\in-abdulkerimhan-ftsline-trace-the-finance\work\ftsline\backend\src\services\careerBonusService.js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C:\Users\abdul\Documents\Codex\2026-07-22\in-abdulkerimhan-ftsline-trace-the-finance\work\ftsline\backend\src\services\unilevelBonusService.js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C:\Users\abdul\Documents\Codex\2026-07-22\in-abdulkerimhan-ftsline-trace-the-finance\work\ftsline\backend\src\services\careerBonusService.js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C:\Users\abdul\Documents\Codex\2026-07-22\in-abdulkerimhan-ftsline-trace-the-finance\work\ftsline\backend\src\services\productNetworkRules.js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C:\Users\abdul\Documents\Codex\2026-07-22\in-abdulkerimhan-ftsline-trace-the-finance\work\ftsline\backend\src\services\poolService.js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C:\Users\abdul\Documents\Codex\2026-07-22\in-abdulkerimhan-ftsline-trace-the-finance\work\ftsline\backend\src\services\unilevelBonusService.js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C:\Users\abdul\Documents\Codex\2026-07-22\in-abdulkerimhan-ftsline-trace-the-finance\work\ftsline\backend\src\services\careerService.js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C:\Users\abdul\Documents\Codex\2026-07-22\in-abdulkerimhan-ftsline-trace-the-finance\work\ftsline\backend\src\services\unilevelBonusService.js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C:\Users\abdul\Documents\Codex\2026-07-22\in-abdulkerimhan-ftsline-trace-the-finance\work\ftsline\backend\src\services\unilevelBonusService.js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C:\Users\abdul\Documents\Codex\2026-07-22\in-abdulkerimhan-ftsline-trace-the-finance\work\ftsline\backend\src\services\productNetworkRules.js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C:\Users\abdul\Documents\Codex\2026-07-22\in-abdulkerimhan-ftsline-trace-the-finance\work\ftsline\backend\src\services\licensePlanService.js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C:\Users\abdul\Documents\Codex\2026-07-22\in-abdulkerimhan-ftsline-trace-the-finance\work\ftsline\backend\src\services\matrixService.js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C:\Users\abdul\Documents\Codex\2026-07-22\in-abdulkerimhan-ftsline-trace-the-finance\work\ftsline\backend\src\services\careerBonusService.js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C:\Users\abdul\Documents\Codex\2026-07-22\in-abdulkerimhan-ftsline-trace-the-finance\work\ftsline\backend\src\services\licensePlanService.js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C:\Users\abdul\Documents\Codex\2026-07-22\in-abdulkerimhan-ftsline-trace-the-finance\work\ftsline\backend\src\services\careerService.js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C:\Users\abdul\Documents\Codex\2026-07-22\in-abdulkerimhan-ftsline-trace-the-finance\work\ftsline\backend\src\services\productNetworkRules.js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C:\Users\abdul\Documents\Codex\2026-07-22\in-abdulkerimhan-ftsline-trace-the-finance\work\ftsline\backend\src\services\productNetworkRules.js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C:\Users\abdul\Documents\Codex\2026-07-22\in-abdulkerimhan-ftsline-trace-the-finance\work\ftsline\backend\src\services\productNetworkBonusService.js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C:\Users\abdul\Documents\Codex\2026-07-22\in-abdulkerimhan-ftsline-trace-the-finance\work\ftsline\backend\src\services\productNetworkRules.js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C:\Users\abdul\Documents\Codex\2026-07-22\in-abdulkerimhan-ftsline-trace-the-finance\work\ftsline\backend\src\models\Order.js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C:\Users\abdul\Documents\Codex\2026-07-22\in-abdulkerimhan-ftsline-trace-the-finance\work\ftsline\backend\src\services\financeContractService.js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C:\Users\abdul\Documents\Codex\2026-07-22\in-abdulkerimhan-ftsline-trace-the-finance\work\ftsline\backend\src\services\orderStockService.js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C:\Users\abdul\Documents\Codex\2026-07-22\in-abdulkerimhan-ftsline-trace-the-finance\work\ftsline\backend\src\services\financeContractService.js</a:t>
            </a:r>
          </a:p>
          <a:p xmlns:a="http://schemas.openxmlformats.org/drawingml/2006/main">
            <a:r>
              <a:t>- C:\Users\abdul\Documents\Codex\2026-07-22\in-abdulkerimhan-ftsline-trace-the-finance\work\ftsline\backend\src\models\Order.js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C:\Users\abdul\Documents\Codex\2026-07-22\in-abdulkerimhan-ftsline-trace-the-finance\work\ftsline\backend\src\routes\adminRoutes.js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C:\Users\abdul\Documents\Codex\2026-07-22\in-abdulkerimhan-ftsline-trace-the-finance\work\ftsline\backend\src\services\financeContractService.js</a:t>
            </a:r>
          </a:p>
          <a:p xmlns:a="http://schemas.openxmlformats.org/drawingml/2006/main">
            <a:r>
              <a:t>- C:\Users\abdul\Documents\Codex\2026-07-22\in-abdulkerimhan-ftsline-trace-the-finance\work\ftsline\frontend\src\pages\AdminPanel.jsx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C:\Users\abdul\Documents\Codex\2026-07-22\in-abdulkerimhan-ftsline-trace-the-finance\work\ftsline\backend\src\services\orderStockService.js</a:t>
            </a:r>
          </a:p>
          <a:p xmlns:a="http://schemas.openxmlformats.org/drawingml/2006/main">
            <a:r>
              <a:t>- C:\Users\abdul\Documents\Codex\2026-07-22\in-abdulkerimhan-ftsline-trace-the-finance\work\ftsline\backend\src\models\Order.js</a:t>
            </a:r>
          </a:p>
          <a:p xmlns:a="http://schemas.openxmlformats.org/drawingml/2006/main">
            <a:r>
              <a:t>- C:\Users\abdul\Documents\Codex\2026-07-22\in-abdulkerimhan-ftsline-trace-the-finance\work\ftsline\backend\src\routes\adminRoutes.js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C:\Users\abdul\Documents\Codex\2026-07-22\in-abdulkerimhan-ftsline-trace-the-finance\work\ftsline\backend\src\routes\earningRoutes.js</a:t>
            </a:r>
          </a:p>
          <a:p xmlns:a="http://schemas.openxmlformats.org/drawingml/2006/main">
            <a:r>
              <a:t>- C:\Users\abdul\Documents\Codex\2026-07-22\in-abdulkerimhan-ftsline-trace-the-finance\work\ftsline\backend\src\models\WithdrawalRequest.js</a:t>
            </a:r>
          </a:p>
          <a:p xmlns:a="http://schemas.openxmlformats.org/drawingml/2006/main">
            <a:r>
              <a:t>- C:\Users\abdul\Documents\Codex\2026-07-22\in-abdulkerimhan-ftsline-trace-the-finance\work\ftsline\frontend\src\pages\Dashboard.jsx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C:\Users\abdul\Documents\Codex\2026-07-22\in-abdulkerimhan-ftsline-trace-the-finance\work\ftsline\backend\src\services\poolService.js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C:\Users\abdul\Documents\Codex\2026-07-22\in-abdulkerimhan-ftsline-trace-the-finance\work\ftsline\frontend\src\pages\AdminPanel.jsx</a:t>
            </a:r>
          </a:p>
          <a:p xmlns:a="http://schemas.openxmlformats.org/drawingml/2006/main">
            <a:r>
              <a:t>- C:\Users\abdul\Documents\Codex\2026-07-22\in-abdulkerimhan-ftsline-trace-the-finance\work\ftsline\backend\src\routes\adminRoutes.js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C:\Users\abdul\Documents\Codex\2026-07-22\in-abdulkerimhan-ftsline-trace-the-finance\work\ftsline\frontend\src\components\Navbar.css</a:t>
            </a:r>
          </a:p>
          <a:p xmlns:a="http://schemas.openxmlformats.org/drawingml/2006/main">
            <a:r>
              <a:t>- C:\Users\abdul\Documents\Codex\2026-07-22\in-abdulkerimhan-ftsline-trace-the-finance\work\ftsline\frontend\src\pages\Dashboard.css</a:t>
            </a:r>
          </a:p>
          <a:p xmlns:a="http://schemas.openxmlformats.org/drawingml/2006/main">
            <a:r>
              <a:t>- C:\Users\abdul\Documents\Codex\2026-07-22\in-abdulkerimhan-ftsline-trace-the-finance\work\ftsline\frontend\src\pages\AdminPanel.css</a:t>
            </a:r>
          </a:p>
          <a:p xmlns:a="http://schemas.openxmlformats.org/drawingml/2006/main">
            <a:r>
              <a:t>- C:\Users\abdul\Documents\Codex\2026-07-22\in-abdulkerimhan-ftsline-trace-the-finance\work\ftsline\frontend\src\pages\Cart.css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C:\Users\abdul\Documents\Codex\2026-07-22\in-abdulkerimhan-ftsline-trace-the-finance\work\ftsline\backend\src\routes\orderRoutes.js</a:t>
            </a:r>
          </a:p>
          <a:p xmlns:a="http://schemas.openxmlformats.org/drawingml/2006/main">
            <a:r>
              <a:t>- C:\Users\abdul\Documents\Codex\2026-07-22\in-abdulkerimhan-ftsline-trace-the-finance\work\ftsline\backend\src\routes\adminRoutes.js</a:t>
            </a:r>
          </a:p>
          <a:p xmlns:a="http://schemas.openxmlformats.org/drawingml/2006/main">
            <a:r>
              <a:t>- C:\Users\abdul\Documents\Codex\2026-07-22\in-abdulkerimhan-ftsline-trace-the-finance\work\ftsline\backend\src\services</a:t>
            </a:r>
          </a:p>
          <a:p xmlns:a="http://schemas.openxmlformats.org/drawingml/2006/main">
            <a:r>
              <a:t>- C:\Users\abdul\Documents\Codex\2026-07-22\in-abdulkerimhan-ftsline-trace-the-finance\work\ftsline\frontend\src\pages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Sunumu, platformun temel vaadini tekrar ederek kapatın: sistemin değeri tek tek özelliklerden değil, bütün akışların aynı kayıt ve kontrol omurgasında birleşmesinden gelir.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C:\Users\abdul\Documents\Codex\2026-07-22\in-abdulkerimhan-ftsline-trace-the-finance\work\ftsline\frontend\public\ftsline.png</a:t>
            </a:r>
          </a:p>
          <a:p xmlns:a="http://schemas.openxmlformats.org/drawingml/2006/main">
            <a:r>
              <a:t>- https://ftsline.net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98648d6a841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8b16004fcc4a64" /><Relationship Type="http://schemas.openxmlformats.org/officeDocument/2006/relationships/slideLayout" Target="/ppt/slideLayouts/slideLayout1.xml" Id="R3ce0ee1c9f8345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e0ee1c9f8345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cac1f07ae4581" /><Relationship Type="http://schemas.openxmlformats.org/officeDocument/2006/relationships/image" Target="/ppt/media/image.png" Id="R4595d805abfd42c6" /><Relationship Type="http://schemas.openxmlformats.org/officeDocument/2006/relationships/notesSlide" Target="/ppt/notesSlides/notesSlide1.xml" Id="R290ce390786444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588981a1e4bb1" /><Relationship Type="http://schemas.openxmlformats.org/officeDocument/2006/relationships/notesSlide" Target="/ppt/notesSlides/notesSlide2.xml" Id="R41aea885cb7648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499f37c38410c" /><Relationship Type="http://schemas.openxmlformats.org/officeDocument/2006/relationships/notesSlide" Target="/ppt/notesSlides/notesSlide3.xml" Id="Rd67e7f7e14ed48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5e25a7b114f60" /><Relationship Type="http://schemas.openxmlformats.org/officeDocument/2006/relationships/notesSlide" Target="/ppt/notesSlides/notesSlide4.xml" Id="Rfaaa35cc0cba41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72a6bfb434689" /><Relationship Type="http://schemas.openxmlformats.org/officeDocument/2006/relationships/notesSlide" Target="/ppt/notesSlides/notesSlide5.xml" Id="Rfef0e24f66cc41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db960253545f7" /><Relationship Type="http://schemas.openxmlformats.org/officeDocument/2006/relationships/notesSlide" Target="/ppt/notesSlides/notesSlide6.xml" Id="R98a2df95cc8940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946ce45024481" /><Relationship Type="http://schemas.openxmlformats.org/officeDocument/2006/relationships/notesSlide" Target="/ppt/notesSlides/notesSlide7.xml" Id="R4b46f144acdf41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db5ae0bf34224" /><Relationship Type="http://schemas.openxmlformats.org/officeDocument/2006/relationships/notesSlide" Target="/ppt/notesSlides/notesSlide8.xml" Id="R4d1d818610e347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b59f06d9a4ff7" /><Relationship Type="http://schemas.openxmlformats.org/officeDocument/2006/relationships/notesSlide" Target="/ppt/notesSlides/notesSlide9.xml" Id="R1dcac2b8480645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bbdfc08bc48b6" /><Relationship Type="http://schemas.openxmlformats.org/officeDocument/2006/relationships/notesSlide" Target="/ppt/notesSlides/notesSlide10.xml" Id="R1a9387cecf5d42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6bb2a69d044a7" /><Relationship Type="http://schemas.openxmlformats.org/officeDocument/2006/relationships/notesSlide" Target="/ppt/notesSlides/notesSlide11.xml" Id="R3e9a8622cd364d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3904bdcf74539" /><Relationship Type="http://schemas.openxmlformats.org/officeDocument/2006/relationships/notesSlide" Target="/ppt/notesSlides/notesSlide12.xml" Id="Rda68810acd5742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5e72a9b864c26" /><Relationship Type="http://schemas.openxmlformats.org/officeDocument/2006/relationships/notesSlide" Target="/ppt/notesSlides/notesSlide13.xml" Id="R21094b10f81e4e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06f719d3c46bb" /><Relationship Type="http://schemas.openxmlformats.org/officeDocument/2006/relationships/notesSlide" Target="/ppt/notesSlides/notesSlide14.xml" Id="R77e1e912257a49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99244a6c64344" /><Relationship Type="http://schemas.openxmlformats.org/officeDocument/2006/relationships/notesSlide" Target="/ppt/notesSlides/notesSlide15.xml" Id="R90788058c3d54f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f0d5d76114cc7" /><Relationship Type="http://schemas.openxmlformats.org/officeDocument/2006/relationships/notesSlide" Target="/ppt/notesSlides/notesSlide16.xml" Id="Ra547e41c5f6b4c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4696a0e0442c5" /><Relationship Type="http://schemas.openxmlformats.org/officeDocument/2006/relationships/notesSlide" Target="/ppt/notesSlides/notesSlide17.xml" Id="Rfc5e7a060a884a3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aa12564b74a98" /><Relationship Type="http://schemas.openxmlformats.org/officeDocument/2006/relationships/notesSlide" Target="/ppt/notesSlides/notesSlide18.xml" Id="R3ecd9578019a46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399a505204119" /><Relationship Type="http://schemas.openxmlformats.org/officeDocument/2006/relationships/notesSlide" Target="/ppt/notesSlides/notesSlide19.xml" Id="R7cc1a500266e4d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7b66db6924831" /><Relationship Type="http://schemas.openxmlformats.org/officeDocument/2006/relationships/notesSlide" Target="/ppt/notesSlides/notesSlide20.xml" Id="Re3b9957933414d3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bed2229a34e24" /><Relationship Type="http://schemas.openxmlformats.org/officeDocument/2006/relationships/notesSlide" Target="/ppt/notesSlides/notesSlide21.xml" Id="Re7020f007158486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b2b0d0fa140cf" /><Relationship Type="http://schemas.openxmlformats.org/officeDocument/2006/relationships/notesSlide" Target="/ppt/notesSlides/notesSlide22.xml" Id="R5d8630524913422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36677973d4111" /><Relationship Type="http://schemas.openxmlformats.org/officeDocument/2006/relationships/notesSlide" Target="/ppt/notesSlides/notesSlide23.xml" Id="Rf9195a7dec56415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5d301e0d54d99" /><Relationship Type="http://schemas.openxmlformats.org/officeDocument/2006/relationships/notesSlide" Target="/ppt/notesSlides/notesSlide24.xml" Id="Raf68e87da96e41f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80a503ce3460c" /><Relationship Type="http://schemas.openxmlformats.org/officeDocument/2006/relationships/notesSlide" Target="/ppt/notesSlides/notesSlide25.xml" Id="Rbbf7256694984ba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78a5e58fc4c54" /><Relationship Type="http://schemas.openxmlformats.org/officeDocument/2006/relationships/notesSlide" Target="/ppt/notesSlides/notesSlide26.xml" Id="R172687a05e7b4e3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7920e3cae40f8" /><Relationship Type="http://schemas.openxmlformats.org/officeDocument/2006/relationships/image" Target="/ppt/media/image2.png" Id="R4456140635df4ecb" /><Relationship Type="http://schemas.openxmlformats.org/officeDocument/2006/relationships/notesSlide" Target="/ppt/notesSlides/notesSlide27.xml" Id="Rf8a49eb82fa349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5d805abfd42c6"/>
          <a:stretch xmlns:a="http://schemas.openxmlformats.org/drawingml/2006/main"/>
        </p:blipFill>
        <p:spPr>
          <a:xfrm xmlns:a="http://schemas.openxmlformats.org/drawingml/2006/main">
            <a:off x="1108655" y="438150"/>
            <a:ext cx="744966" cy="723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A697A-024F-450B-95DB-F6451BC3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638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71A3C"/>
                </a:solidFill>
              </a:defRPr>
            </a:pPr>
            <a:r>
              <a:rPr sz="4950" b="1">
                <a:solidFill>
                  <a:srgbClr val="071A3C"/>
                </a:solidFill>
              </a:rPr>
              <a:t>FTSLine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B0990-19FC-4839-AC95-91D599BE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547B9"/>
                </a:solidFill>
              </a:defRPr>
            </a:pPr>
            <a:r>
              <a:rPr sz="2175" b="0">
                <a:solidFill>
                  <a:srgbClr val="1547B9"/>
                </a:solidFill>
              </a:rPr>
              <a:t>Dijital ticaret, lisans ve ağ kazanç ekosistemi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EBBB5-9ACB-4747-9B11-B3838778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176"/>
                </a:solidFill>
              </a:defRPr>
            </a:pPr>
            <a:r>
              <a:rPr sz="1575" b="0">
                <a:solidFill>
                  <a:srgbClr val="526176"/>
                </a:solidFill>
              </a:rPr>
              <a:t>Ürün kataloğundan siparişe; Unilevel, Matrix, kariyer, finans ve yönetim operasyonlarına kadar bütünsel sunum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E01E7-1922-40E6-B2D5-75C8B6AA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66750"/>
            <a:ext cx="3143250" cy="5143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71A3C"/>
          </a:solidFill>
          <a:ln xmlns:a="http://schemas.openxmlformats.org/drawingml/2006/main" w="9525">
            <a:solidFill>
              <a:srgbClr val="071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1FE97-4017-483B-93D5-C4D70931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049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4B8E8"/>
                </a:solidFill>
              </a:defRPr>
            </a:pPr>
            <a:r>
              <a:rPr sz="2025" b="1">
                <a:solidFill>
                  <a:srgbClr val="34B8E8"/>
                </a:solidFill>
              </a:rPr>
              <a:t>E-ticaret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56A34-84D8-4D27-A2A7-32722078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573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85C0A-0211-4378-9C70-8CA2D07C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240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Lisans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FEA5E-13B4-41BD-92A5-2EDED862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C3920-976D-40E3-A1CD-C767F16D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Unilevel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E31E1-DCBD-4FDE-ADF0-73F1872C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956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A4E31-1885-4003-89AE-50CC9EEF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623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Matrix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41013-61BC-4CE8-8476-B2A4DB20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92850-2674-49AE-8171-31AC7425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Finans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60067-F790-4CB2-886D-62C9A5CA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76"/>
                </a:solidFill>
              </a:defRPr>
            </a:pPr>
            <a:r>
              <a:rPr sz="975" b="1">
                <a:solidFill>
                  <a:srgbClr val="526176"/>
                </a:solidFill>
              </a:rPr>
              <a:t>Temmuz 2026 • Detaylı Sistem Sunumu</a:t>
            </a:r>
          </a:p>
        </p:txBody>
      </p:sp>
    </p:spTree>
    <p:extLst>
      <p:ext uri="{BB962C8B-B14F-4D97-AF65-F5344CB8AC3E}">
        <p14:creationId xmlns:p14="http://schemas.microsoft.com/office/powerpoint/2010/main" val="2672115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DAA72A-FA1E-4021-8C21-83715686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YÖNETICI ÖZETI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490FB-063E-428B-9D3A-EB54BA97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Tek platform, birbirine bağlı beş değer katmanı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B8489-7B10-477B-92CD-2EC6A558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B3F50-939C-43C1-93F0-39CA4637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B3B7D-1988-4B6C-B742-0465F3A7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47B9"/>
                </a:solidFill>
              </a:defRPr>
            </a:pPr>
            <a:r>
              <a:rPr sz="2100" b="1">
                <a:solidFill>
                  <a:srgbClr val="1547B9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6E5F0-A10C-46D4-9265-81CA347F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47B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50AE6-0D1D-422B-8D0C-FA104C67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C"/>
                </a:solidFill>
              </a:defRPr>
            </a:pPr>
            <a:r>
              <a:rPr sz="1575" b="1">
                <a:solidFill>
                  <a:srgbClr val="071A3C"/>
                </a:solidFill>
              </a:rPr>
              <a:t>Ticaret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C92B7-EAF4-4532-826D-80D6BEC2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Ürün, sepet, stok ve sipariş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F7553-168A-4DEB-AAAA-A1383AB8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76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47B9"/>
                </a:solidFill>
              </a:defRPr>
            </a:pPr>
            <a:r>
              <a:rPr sz="2100" b="1">
                <a:solidFill>
                  <a:srgbClr val="1547B9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AA142-1DF7-4952-BE7E-A0F1B810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526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E2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2546F-5691-4910-A038-E8BDD65C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622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C"/>
                </a:solidFill>
              </a:defRPr>
            </a:pPr>
            <a:r>
              <a:rPr sz="1575" b="1">
                <a:solidFill>
                  <a:srgbClr val="071A3C"/>
                </a:solidFill>
              </a:rPr>
              <a:t>Üyelik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E5530-648F-485B-8169-7672D4E9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575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Sponsor bağlantısı ve lisans aktivasyonu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C8156-026D-4369-B59A-A6E17C8E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76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47B9"/>
                </a:solidFill>
              </a:defRPr>
            </a:pPr>
            <a:r>
              <a:rPr sz="2100" b="1">
                <a:solidFill>
                  <a:srgbClr val="1547B9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53E2A-2B77-4466-956B-29898C91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526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E2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8CF8A-0AD1-4FB0-BC06-A2C7191D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622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C"/>
                </a:solidFill>
              </a:defRPr>
            </a:pPr>
            <a:r>
              <a:rPr sz="1575" b="1">
                <a:solidFill>
                  <a:srgbClr val="071A3C"/>
                </a:solidFill>
              </a:rPr>
              <a:t>Kazanç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D905A-8B96-4F20-A4C7-BBAE6E40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575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Unilevel, Matrix, ürün bonusu ve havuz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7DE4E-A743-45E0-AD64-2C9D268A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47B9"/>
                </a:solidFill>
              </a:defRPr>
            </a:pPr>
            <a:r>
              <a:rPr sz="2100" b="1">
                <a:solidFill>
                  <a:srgbClr val="1547B9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82A5F-7E7D-4E9E-AFBB-580FC5C5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E2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0FE3A-F72C-4D02-AA83-EC1EF507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C"/>
                </a:solidFill>
              </a:defRPr>
            </a:pPr>
            <a:r>
              <a:rPr sz="1575" b="1">
                <a:solidFill>
                  <a:srgbClr val="071A3C"/>
                </a:solidFill>
              </a:rPr>
              <a:t>Finans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BB17D5-BFF1-4548-B3F4-7B91C547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Ödeme, fatura, cüzdan ve çekim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3BD4BC-1DD5-414A-88BF-8BFBF1FC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76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47B9"/>
                </a:solidFill>
              </a:defRPr>
            </a:pPr>
            <a:r>
              <a:rPr sz="2100" b="1">
                <a:solidFill>
                  <a:srgbClr val="1547B9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94A02E-76F4-480A-8B69-88FC2188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526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E2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5F8493-C832-498E-906E-B4BA23D3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622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C"/>
                </a:solidFill>
              </a:defRPr>
            </a:pPr>
            <a:r>
              <a:rPr sz="1575" b="1">
                <a:solidFill>
                  <a:srgbClr val="071A3C"/>
                </a:solidFill>
              </a:rPr>
              <a:t>Yönetim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265BAE-BEDC-403D-AB05-81EA3183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575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Admin ve Süper Admin kontrolü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2AAE8C-C374-4222-BDC2-7CC2AFD8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24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47B9"/>
                </a:solidFill>
              </a:defRPr>
            </a:pPr>
            <a:r>
              <a:rPr sz="1200" b="1">
                <a:solidFill>
                  <a:srgbClr val="1547B9"/>
                </a:solidFill>
              </a:rPr>
              <a:t>Ana fikir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578D0A-7902-4C9C-A80D-78DB5AC9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05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1A3C"/>
                </a:solidFill>
              </a:defRPr>
            </a:pPr>
            <a:r>
              <a:rPr sz="2175" b="1">
                <a:solidFill>
                  <a:srgbClr val="071A3C"/>
                </a:solidFill>
              </a:rPr>
              <a:t>Siparişin finansal durumu değiştiğinde stok, fatura ve uygun kazanç hareketleri aynı iş akışında izlenir.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D4F131-1EAF-4123-9654-02A9FF61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9417770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66AB67-950D-4F50-B061-A52B9FC0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PLATFORM MIMARISI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C7FFA-AE8D-4D97-B0BE-4DFDA6B2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FTSLine ekosistem haritası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6C933-4976-4854-9CB6-DF9D9276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A96C3-845E-4ADB-86E6-5D280595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BF5FF-25D8-449F-9EC7-E7BC69E1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204216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71A3C"/>
          </a:solidFill>
          <a:ln xmlns:a="http://schemas.openxmlformats.org/drawingml/2006/main" w="9525">
            <a:solidFill>
              <a:srgbClr val="071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7221F-57EA-4EDD-AA39-4E517BC6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B8E8"/>
                </a:solidFill>
              </a:defRPr>
            </a:pPr>
            <a:r>
              <a:rPr sz="900" b="1">
                <a:solidFill>
                  <a:srgbClr val="34B8E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3A239-ADFD-4310-9894-179846A6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17373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Ziyaretçi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1E9B2-FE6B-4BF7-87ED-3AC82B41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" y="19621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DF032-14B9-4EE1-BC4B-DB967BC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1638300"/>
            <a:ext cx="204216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FB772-7006-4E1A-8D46-109AB381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10" y="1752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B6663-E3C5-4296-B0C6-03B8B93B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10" y="2019300"/>
            <a:ext cx="17373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Kayıtlı kullanıcı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85627-35E5-4941-AA22-BD0915C4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19621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22EF2-938C-45AA-958A-F800BADE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638300"/>
            <a:ext cx="204216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2B246-DF6D-441F-9D52-8BB87E7E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1752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ECF53-D6D6-434B-985B-C501E3B4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2019300"/>
            <a:ext cx="17373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Lisanslı üye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6E5CF-AE26-41A4-9AF3-9694AD2D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19621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F7E14-C7E9-4E86-B915-B2651EC9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1638300"/>
            <a:ext cx="204216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961C4-60DF-440D-8B52-B6500FDF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1752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2BFF8-3E7E-4D10-8BD0-7F142912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2019300"/>
            <a:ext cx="17373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Lider / kariyer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0D6458-E14D-4532-9AE8-C374A708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19621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23571-BC32-4C0E-8A4A-22D9C643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1638300"/>
            <a:ext cx="204216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420776-F42D-4DED-B5E1-CC43BF2B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1752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018DB-FBF8-4AED-B4B8-7D02D333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2019300"/>
            <a:ext cx="17373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Admin operasyonu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A1F41C-ED1A-4178-98C4-83EB865B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2000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E0FA51-1D60-4F6F-8CE9-4FC6AAC8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65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3C"/>
                </a:solidFill>
              </a:defRPr>
            </a:pPr>
            <a:r>
              <a:rPr sz="1425" b="1">
                <a:solidFill>
                  <a:srgbClr val="071A3C"/>
                </a:solidFill>
              </a:rPr>
              <a:t>Katalog &amp; sepet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888D1A-0CB2-4DB9-A371-51059DB8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Ürün seçimi, fiyat, stok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F07A04-B74B-4157-9280-19E69CEE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14700"/>
            <a:ext cx="2000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3B3FE0-4461-42D0-B57E-A76B0EDC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165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3C"/>
                </a:solidFill>
              </a:defRPr>
            </a:pPr>
            <a:r>
              <a:rPr sz="1425" b="1">
                <a:solidFill>
                  <a:srgbClr val="071A3C"/>
                </a:solidFill>
              </a:rPr>
              <a:t>Ağlar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6D7DAD-6CE9-47D0-A48E-7E0FDFC1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576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Sponsor + Matrix yerleşimi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D9930A-A812-419A-BF57-5C7C1E4A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14700"/>
            <a:ext cx="2000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0E856E-7DCE-421D-BA59-5A4AD4A2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43300"/>
            <a:ext cx="165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3C"/>
                </a:solidFill>
              </a:defRPr>
            </a:pPr>
            <a:r>
              <a:rPr sz="1425" b="1">
                <a:solidFill>
                  <a:srgbClr val="071A3C"/>
                </a:solidFill>
              </a:rPr>
              <a:t>Kazanç defteri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A1A32C-E960-4BE1-A47C-4A1559C1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576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Her hak ediş ayrı işlem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5942A5-CC2E-49A8-B586-B128E36A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2000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C7B045-8992-46F4-8441-8C3B13C5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43300"/>
            <a:ext cx="165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3C"/>
                </a:solidFill>
              </a:defRPr>
            </a:pPr>
            <a:r>
              <a:rPr sz="1425" b="1">
                <a:solidFill>
                  <a:srgbClr val="071A3C"/>
                </a:solidFill>
              </a:rPr>
              <a:t>Finans merkezi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A709A2-48FF-481A-9416-E4F267B2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576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Sipariş, fatura, ödeme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009EED-C065-4D07-89E0-3FF5F96B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14700"/>
            <a:ext cx="2000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D168D8-4513-49FC-9E0D-6755B398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165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3C"/>
                </a:solidFill>
              </a:defRPr>
            </a:pPr>
            <a:r>
              <a:rPr sz="1425" b="1">
                <a:solidFill>
                  <a:srgbClr val="071A3C"/>
                </a:solidFill>
              </a:rPr>
              <a:t>Cüzdan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5D4A3F-001D-4CF2-8CC7-0C7EB849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576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Bakiye ve çekim talebi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422532-77A9-49A2-8FE7-321BE671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1787808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6CE123-2BC0-4246-976C-1A0A5B3B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KULLANICI YOLCULUĞU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1937B-133B-427E-ABC6-434E9E1C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Kayıttan kazanca uçtan uca akış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A848F-08B4-4546-8003-496F2A7B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DB1C5-F6D2-43E9-AC96-C378C2A5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6DAC1-C1A7-4FA0-88F3-4406382A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6922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71A3C"/>
          </a:solidFill>
          <a:ln xmlns:a="http://schemas.openxmlformats.org/drawingml/2006/main" w="9525">
            <a:solidFill>
              <a:srgbClr val="071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D8226-57CC-4D4F-971E-4A5CEF6F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B8E8"/>
                </a:solidFill>
              </a:defRPr>
            </a:pPr>
            <a:r>
              <a:rPr sz="900" b="1">
                <a:solidFill>
                  <a:srgbClr val="34B8E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A7440-B415-4CAB-814F-E688DD5B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1387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Kayıt ve sponsor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A6007-1ED8-44F9-A3FE-72C12873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625" y="20193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A0A7A-DD4F-45C5-BA84-7063DCCB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125" y="1695450"/>
            <a:ext cx="16922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7DA4E-4E69-4B90-8360-98B64B08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525" y="1809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CBE25-036B-4EE8-A101-4CD25F27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525" y="2076450"/>
            <a:ext cx="1387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Ürün / lisans seçimi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3AE06-B05E-49DA-B725-7F31240F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20193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78D46-F975-4B00-9970-886E093C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695450"/>
            <a:ext cx="16922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3D1B5-A451-4BB8-BB8C-7FA5E9E0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1809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AF0BF-8AFB-4811-A48A-78388149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076450"/>
            <a:ext cx="1387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Sipariş oluşturma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91EDF-721D-435C-B438-7BE561F3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193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939D4-592E-47B6-AC1F-2F477ACC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95450"/>
            <a:ext cx="16922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5E3EAB-1DE6-4C57-8876-1F1363C6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09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6C7812-7BA8-4868-A6D6-B86DB918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76450"/>
            <a:ext cx="1387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Ödeme onayı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AD8994-5BF9-46EE-982F-113EE565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0193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12D9A9-8382-44B9-BC43-39D8BBC7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1695450"/>
            <a:ext cx="16922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ECD2F-D89B-4C5D-89E0-53CB097A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1809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B1811-C075-4999-8ED8-AB5640BD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076450"/>
            <a:ext cx="1387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Kazanç yansıması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2EB1D4-55D8-4AAA-AF96-A9315B83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20193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CC6F77-6FFB-4A22-B606-8E764539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425" y="1695450"/>
            <a:ext cx="16922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AB16AB-9CB6-420D-8483-F8E8213C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825" y="1809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EDFB3F-9B97-47C5-B6F7-33E56549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825" y="2076450"/>
            <a:ext cx="1387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Çekim talebi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73BD7E-922D-42FE-BD47-B9F82EC3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E5DB4A-7E9F-497D-AE81-785F9967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1026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Lisans satın alımı üyeyi aktif lisanslı statüye geçirir ve uygun Matrix boşluğuna yerleştirir.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D17685-90EE-4836-8A9F-2AB24C4F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36D3D0-9D39-4735-AA84-1B7BD816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026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İlk lisans ödemesi Unilevel; sonraki aylık plan işleyişi Matrix kazancı üretir.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454B2D-9193-4F23-9147-23416996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1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075E7F-06C8-441B-8831-258DE54A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1026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Ürün siparişinde finite stok anında rezerve edilir; iptal/iade akışında geri yüklenir.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8DD39D-9B2B-404A-9FFD-BA7F1F76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5A2D87-CBB3-4533-8570-13A282DB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1026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Ödendi + tamamlandı koşulu oluştuğunda ürün ağ bonusu cüzdana işlenir.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499E86-C7EB-4C64-8428-C57FCD49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BABABE-A342-49DE-BEB4-55C85F71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1026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5.000 TL ve üzeri kullanılabilir bakiye için çekim talebi açılabilir.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548ED0-6E5A-433D-A4F4-0662C679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1927015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C97E1E-727B-4BFD-9763-0AF8529E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ROLLER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F28B9-44A7-4325-9E79-274C26C5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Yetki modeli ve görünür alanlar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EBD9B-7451-4DCD-952F-17F13BD6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EA507-B344-449B-BA6C-26D65721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302FA-1C3A-4FAE-9438-01E3EAAF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3C"/>
                </a:solidFill>
              </a:defRPr>
            </a:pPr>
            <a:r>
              <a:rPr sz="1425" b="1">
                <a:solidFill>
                  <a:srgbClr val="071A3C"/>
                </a:solidFill>
              </a:rPr>
              <a:t>Ziyaretçi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47429-954B-421B-9994-36F48302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288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47B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DB272-6EB0-4889-B233-F79763D6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8115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6"/>
                </a:solidFill>
              </a:defRPr>
            </a:pPr>
            <a:r>
              <a:rPr sz="1275" b="0">
                <a:solidFill>
                  <a:srgbClr val="526176"/>
                </a:solidFill>
              </a:rPr>
              <a:t>Ürünler, kurumsal sayfalar, sepet, kayıt/giriş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F2870-D3E3-437F-B575-F7DF7175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3C"/>
                </a:solidFill>
              </a:defRPr>
            </a:pPr>
            <a:r>
              <a:rPr sz="1425" b="1">
                <a:solidFill>
                  <a:srgbClr val="071A3C"/>
                </a:solidFill>
              </a:rPr>
              <a:t>Kullanıcı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0B0B9-B21A-40CB-BD33-667A3CF8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955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47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02F76-81F2-4273-BEB1-CCEA1D9B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4792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6"/>
                </a:solidFill>
              </a:defRPr>
            </a:pPr>
            <a:r>
              <a:rPr sz="1275" b="0">
                <a:solidFill>
                  <a:srgbClr val="526176"/>
                </a:solidFill>
              </a:rPr>
              <a:t>Siparişler, profil, SSS, ağ görünümü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30470-78D5-48C9-B092-A22FD92C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3C"/>
                </a:solidFill>
              </a:defRPr>
            </a:pPr>
            <a:r>
              <a:rPr sz="1425" b="1">
                <a:solidFill>
                  <a:srgbClr val="071A3C"/>
                </a:solidFill>
              </a:rPr>
              <a:t>Lisanslı üye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082A6-FE9E-4CEC-9F2A-BA869F6D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62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47B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CCAA8-B955-4B51-8E10-83CB3A31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147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6"/>
                </a:solidFill>
              </a:defRPr>
            </a:pPr>
            <a:r>
              <a:rPr sz="1275" b="0">
                <a:solidFill>
                  <a:srgbClr val="526176"/>
                </a:solidFill>
              </a:rPr>
              <a:t>Unilevel/Matrix yerleşimi, kazanç ve kariyer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E4940-944A-45D1-B29B-0CBF5220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47B9"/>
                </a:solidFill>
              </a:defRPr>
            </a:pPr>
            <a:r>
              <a:rPr sz="1425" b="1">
                <a:solidFill>
                  <a:srgbClr val="1547B9"/>
                </a:solidFill>
              </a:rPr>
              <a:t>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BC1D3-34A7-4F9A-9575-8F96601A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291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47B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A345C-21E5-4F0E-8BF6-57A00207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814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6"/>
                </a:solidFill>
              </a:defRPr>
            </a:pPr>
            <a:r>
              <a:rPr sz="1275" b="0">
                <a:solidFill>
                  <a:srgbClr val="526176"/>
                </a:solidFill>
              </a:rPr>
              <a:t>Ürün, sipariş, ödeme, fatura ve kullanıcı operasyonu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A62BBD-DA94-4615-93FA-11AB01C3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47B9"/>
                </a:solidFill>
              </a:defRPr>
            </a:pPr>
            <a:r>
              <a:rPr sz="1425" b="1">
                <a:solidFill>
                  <a:srgbClr val="1547B9"/>
                </a:solidFill>
              </a:rPr>
              <a:t>Süper 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A5969-47A8-4C63-A85E-868BB020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959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47B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D60D00-F05E-4139-A559-FED0BB62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4825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6"/>
                </a:solidFill>
              </a:defRPr>
            </a:pPr>
            <a:r>
              <a:rPr sz="1275" b="0">
                <a:solidFill>
                  <a:srgbClr val="526176"/>
                </a:solidFill>
              </a:rPr>
              <a:t>Sistem geneli yönetim, roller ve finans merkezi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F636CF-27B6-497F-85A1-CF1D474B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17296611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8AB63-BDF3-4B66-B4D3-1AB9F7E4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TICARET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89743-1F39-4A64-A936-67703176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Fiyat ve müşteri segmentasyonu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80C27-3CA2-48E2-A530-46AB9120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B4E14-FE55-4BD6-9139-F58044CD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DB9B2-3D41-463C-94C7-808B75E2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52768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71A3C"/>
          </a:solidFill>
          <a:ln xmlns:a="http://schemas.openxmlformats.org/drawingml/2006/main" w="9525">
            <a:solidFill>
              <a:srgbClr val="071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9F8C4-EFDB-4A3A-91C0-87DCCDAD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Normal fiyat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8F306-1E03-43EA-A87F-15F0B1BC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F"/>
                </a:solidFill>
              </a:defRPr>
            </a:pPr>
            <a:r>
              <a:rPr sz="1350" b="0">
                <a:solidFill>
                  <a:srgbClr val="D7E5FF"/>
                </a:solidFill>
              </a:rPr>
              <a:t>Lisanssız veya normal fiyatla alışveriş yapan müşteriye gösterilen liste fiyatı.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CB59F-D9A2-4CFC-BADF-FBD5ABE9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B8E8"/>
                </a:solidFill>
              </a:defRPr>
            </a:pPr>
            <a:r>
              <a:rPr sz="1050" b="1">
                <a:solidFill>
                  <a:srgbClr val="34B8E8"/>
                </a:solidFill>
              </a:rPr>
              <a:t>Ağ matrahı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3A425-A525-4B16-A00C-AA963EDF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Normal fiyat − lisanslı fiyat farkı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42102-6EEC-4148-AE7B-A081BFE0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19250"/>
            <a:ext cx="56388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128B3-3667-423F-A69D-F9C241E5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47B9"/>
                </a:solidFill>
              </a:defRPr>
            </a:pPr>
            <a:r>
              <a:rPr sz="2100" b="1">
                <a:solidFill>
                  <a:srgbClr val="1547B9"/>
                </a:solidFill>
              </a:rPr>
              <a:t>Lisanslı fiyat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F70EB-7A8B-4DAC-BED2-E6498DB4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6"/>
                </a:solidFill>
              </a:defRPr>
            </a:pPr>
            <a:r>
              <a:rPr sz="1350" b="0">
                <a:solidFill>
                  <a:srgbClr val="526176"/>
                </a:solidFill>
              </a:rPr>
              <a:t>Aktif lisanslı üyeye tanımlanan avantajlı satın alma fiyatı.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9C356-6AF1-4E4D-8784-4FBFF02F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47B9"/>
                </a:solidFill>
              </a:defRPr>
            </a:pPr>
            <a:r>
              <a:rPr sz="1050" b="1">
                <a:solidFill>
                  <a:srgbClr val="1547B9"/>
                </a:solidFill>
              </a:rPr>
              <a:t>Dağıtım matrahı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984DD0-E369-4261-B6C3-26C43E52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C"/>
                </a:solidFill>
              </a:defRPr>
            </a:pPr>
            <a:r>
              <a:rPr sz="1650" b="1">
                <a:solidFill>
                  <a:srgbClr val="071A3C"/>
                </a:solidFill>
              </a:rPr>
              <a:t>İndirimli siparişin ürün toplamı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40A7E4-26C9-4A4F-87B9-AD43040B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3535"/>
                </a:solidFill>
              </a:defRPr>
            </a:pPr>
            <a:r>
              <a:rPr sz="1500" b="1">
                <a:solidFill>
                  <a:srgbClr val="C73535"/>
                </a:solidFill>
              </a:rPr>
              <a:t>Eğitim/lisans paketleri ürün satış bonusundan ayrıdır; kendi Unilevel–Matrix kuralları korunur.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4F878E-AF1D-4D88-B3B2-55BFD590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14980553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0AEBA6-F097-4862-84D8-EF6994EC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LISANS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EDE28-3301-4CAD-99EC-42830699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Üç plan, tek aktivasyon omurgası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57304-6167-46FD-847A-7C0C07AB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CCF9F-B0AC-4509-8E18-E673A419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73632-4FF1-4955-9DB5-B3CFA036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B8A83-DD11-4AE0-A446-A6A17A7F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F3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F985D-F69C-4C8D-B0C8-99408D53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Başlangıç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43481-0A96-46F8-9DA7-723681EA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A3C"/>
                </a:solidFill>
              </a:defRPr>
            </a:pPr>
            <a:r>
              <a:rPr sz="2325" b="1">
                <a:solidFill>
                  <a:srgbClr val="071A3C"/>
                </a:solidFill>
              </a:rPr>
              <a:t>74,99 USDT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B8512-3BE3-4751-82E0-EC59BE3D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1 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5D501-73B2-492D-AECA-826AF39D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FEFF4-BBBE-49E4-8191-88EC59FA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2971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47B9"/>
                </a:solidFill>
              </a:defRPr>
            </a:pPr>
            <a:r>
              <a:rPr sz="1350" b="1">
                <a:solidFill>
                  <a:srgbClr val="1547B9"/>
                </a:solidFill>
              </a:rPr>
              <a:t>0 Matrix ayı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B972D-8F23-4650-A2C2-01341772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İlk aktivasyon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55EED-83DB-4544-88F8-F4099C7D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5735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1547B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79A81-7F3D-4A6F-B6E7-C430D720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85950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547B9"/>
          </a:solidFill>
          <a:ln xmlns:a="http://schemas.openxmlformats.org/drawingml/2006/main" w="9525">
            <a:solidFill>
              <a:srgbClr val="1547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F7D8A-63F5-41F9-848F-FE9F0771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90500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 Yıllık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DF44E-4E22-4DD0-A740-F0789AA6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479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A3C"/>
                </a:solidFill>
              </a:defRPr>
            </a:pPr>
            <a:r>
              <a:rPr sz="2325" b="1">
                <a:solidFill>
                  <a:srgbClr val="071A3C"/>
                </a:solidFill>
              </a:rPr>
              <a:t>210 USDT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5900F-8D64-4698-B5AC-388982B9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05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12 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4F1C3-B963-476A-A54E-3A87CD8A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00450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F7A586-0153-43BA-9341-A9A2BCF7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819525"/>
            <a:ext cx="2971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47B9"/>
                </a:solidFill>
              </a:defRPr>
            </a:pPr>
            <a:r>
              <a:rPr sz="1350" b="1">
                <a:solidFill>
                  <a:srgbClr val="1547B9"/>
                </a:solidFill>
              </a:rPr>
              <a:t>11 Matrix ayı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DCE0B-DFB4-401D-AA79-423785C4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434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Aylık işleyiş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64E40-0B25-4203-AF8F-88DCCDD8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5735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0171E-EDB2-41C7-81B7-8BD25869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F3F6F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51EE51-CAEA-4EA9-8D8D-2959F7F2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0500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2 Yıllık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296492-DF4A-40C5-8DEB-CAC0A4B5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479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A3C"/>
                </a:solidFill>
              </a:defRPr>
            </a:pPr>
            <a:r>
              <a:rPr sz="2325" b="1">
                <a:solidFill>
                  <a:srgbClr val="071A3C"/>
                </a:solidFill>
              </a:rPr>
              <a:t>360 USDT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E39AEA-6FBE-491E-87F4-192CD436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24 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1B86C2-0C0B-49F3-9F34-FE14CA96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CD2815-E7F0-45B0-AF98-F7736C79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9525"/>
            <a:ext cx="2971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47B9"/>
                </a:solidFill>
              </a:defRPr>
            </a:pPr>
            <a:r>
              <a:rPr sz="1350" b="1">
                <a:solidFill>
                  <a:srgbClr val="1547B9"/>
                </a:solidFill>
              </a:rPr>
              <a:t>23 Matrix ayı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51BAFF-EB52-4CB5-B174-C1D48ED6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Aylık işleyiş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59C5C6-986B-4B44-8520-A7F80235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721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A3C"/>
                </a:solidFill>
              </a:defRPr>
            </a:pPr>
            <a:r>
              <a:rPr sz="1650" b="1">
                <a:solidFill>
                  <a:srgbClr val="071A3C"/>
                </a:solidFill>
              </a:rPr>
              <a:t>İlk ay: 3.599 TL Unilevel matrahı • Sonraki aylar: 799 TL aylık Pro üzerinden Matrix %3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2232FC-4685-4956-A33E-8C2E1AB9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14653923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B1A91B-0D96-47B4-9064-FA440C74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KAZANÇ MOTORU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278DB-94F4-4656-8050-84B53B4E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Dört ayrı gelir kaynağı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E8959-0E34-4C24-BD8F-2B96ED75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13C22-9198-44BB-A058-379DA56A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4FF4F-7F0E-40C6-A750-96AA7D8F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47B9"/>
                </a:solidFill>
              </a:defRPr>
            </a:pPr>
            <a:r>
              <a:rPr sz="2100" b="1">
                <a:solidFill>
                  <a:srgbClr val="1547B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0655C-781E-4B97-A1A3-DBC5A103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716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A3C"/>
                </a:solidFill>
              </a:defRPr>
            </a:pPr>
            <a:r>
              <a:rPr sz="1725" b="1">
                <a:solidFill>
                  <a:srgbClr val="071A3C"/>
                </a:solidFill>
              </a:rPr>
              <a:t>Unilevel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5C16B-00A4-4907-AA4D-D85FFA63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6"/>
                </a:solidFill>
              </a:defRPr>
            </a:pPr>
            <a:r>
              <a:rPr sz="1350" b="0">
                <a:solidFill>
                  <a:srgbClr val="526176"/>
                </a:solidFill>
              </a:rPr>
              <a:t>İlk lisans ödemesi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1E2F8-28E1-4BAA-9AB8-6780B434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F62"/>
                </a:solidFill>
              </a:defRPr>
            </a:pPr>
            <a:r>
              <a:rPr sz="1350" b="1">
                <a:solidFill>
                  <a:srgbClr val="0F9F62"/>
                </a:solidFill>
              </a:rPr>
              <a:t>10 seviyeye kadar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7900E-C25B-439E-AA3B-B124896F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050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CE03A-FDCE-4371-97C6-12C7DD47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384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47B9"/>
                </a:solidFill>
              </a:defRPr>
            </a:pPr>
            <a:r>
              <a:rPr sz="2100" b="1">
                <a:solidFill>
                  <a:srgbClr val="1547B9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68015-DA47-4EF2-8866-5EFE2D97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384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A3C"/>
                </a:solidFill>
              </a:defRPr>
            </a:pPr>
            <a:r>
              <a:rPr sz="1725" b="1">
                <a:solidFill>
                  <a:srgbClr val="071A3C"/>
                </a:solidFill>
              </a:rPr>
              <a:t>Matrix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2BE99-D1C1-41D0-BD4D-7A200D5D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384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6"/>
                </a:solidFill>
              </a:defRPr>
            </a:pPr>
            <a:r>
              <a:rPr sz="1350" b="0">
                <a:solidFill>
                  <a:srgbClr val="526176"/>
                </a:solidFill>
              </a:rPr>
              <a:t>Aylık Pro kullanımı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186E5-93CA-4FB7-9B23-4C869FC8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384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F62"/>
                </a:solidFill>
              </a:defRPr>
            </a:pPr>
            <a:r>
              <a:rPr sz="1350" b="1">
                <a:solidFill>
                  <a:srgbClr val="0F9F62"/>
                </a:solidFill>
              </a:rPr>
              <a:t>12–15 derinlik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38022-5FC1-4413-86DA-E74554B4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54534-AC12-4663-BB9B-32DD40DB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052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47B9"/>
                </a:solidFill>
              </a:defRPr>
            </a:pPr>
            <a:r>
              <a:rPr sz="2100" b="1">
                <a:solidFill>
                  <a:srgbClr val="1547B9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76F6B-8133-4783-AC54-C6F182FE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052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A3C"/>
                </a:solidFill>
              </a:defRPr>
            </a:pPr>
            <a:r>
              <a:rPr sz="1725" b="1">
                <a:solidFill>
                  <a:srgbClr val="071A3C"/>
                </a:solidFill>
              </a:rPr>
              <a:t>Ürün ağı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4767E-BC91-400F-B2D8-71807B59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052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6"/>
                </a:solidFill>
              </a:defRPr>
            </a:pPr>
            <a:r>
              <a:rPr sz="1350" b="0">
                <a:solidFill>
                  <a:srgbClr val="526176"/>
                </a:solidFill>
              </a:rPr>
              <a:t>Normal / indirimli satış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32919-9588-470B-8967-88711240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052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F62"/>
                </a:solidFill>
              </a:defRPr>
            </a:pPr>
            <a:r>
              <a:rPr sz="1350" b="1">
                <a:solidFill>
                  <a:srgbClr val="0F9F62"/>
                </a:solidFill>
              </a:rPr>
              <a:t>10 seviyeye kadar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04FC2-B511-46A6-A564-4CEBA468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64E10-9F3B-41F0-8788-AB0F3263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720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47B9"/>
                </a:solidFill>
              </a:defRPr>
            </a:pPr>
            <a:r>
              <a:rPr sz="2100" b="1">
                <a:solidFill>
                  <a:srgbClr val="1547B9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CA7556-19B7-4430-8D64-F36A5EF5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720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A3C"/>
                </a:solidFill>
              </a:defRPr>
            </a:pPr>
            <a:r>
              <a:rPr sz="1725" b="1">
                <a:solidFill>
                  <a:srgbClr val="071A3C"/>
                </a:solidFill>
              </a:rPr>
              <a:t>Kariyer havuzu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A72FCB-21CF-4E7C-98B3-E7271A8D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720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76"/>
                </a:solidFill>
              </a:defRPr>
            </a:pPr>
            <a:r>
              <a:rPr sz="1350" b="0">
                <a:solidFill>
                  <a:srgbClr val="526176"/>
                </a:solidFill>
              </a:rPr>
              <a:t>Şirket kârı paylaşımı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123B53-0BDB-4B24-90CC-C111ED95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720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9116"/>
                </a:solidFill>
              </a:defRPr>
            </a:pPr>
            <a:r>
              <a:rPr sz="1350" b="1">
                <a:solidFill>
                  <a:srgbClr val="C89116"/>
                </a:solidFill>
              </a:rPr>
              <a:t>%2 / %10 / %2,5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7527A4-DFCB-4CCC-A294-64FFCF9A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05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251705-0581-41A7-823E-FF2266CF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8342270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C6D647-D3B2-4CD7-9BEC-D45ABB3F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UNILEVEL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A4C70-1B4D-4EF8-A2F2-A70125FD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İlk lisans kazancının çalışma mantığı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00002-AD80-4A4D-AC6C-93F56F7B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F876C-D25C-47DA-B341-E922894D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8D09F-D41F-41A4-A441-ECED081C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47B9"/>
                </a:solidFill>
              </a:defRPr>
            </a:pPr>
            <a:r>
              <a:rPr sz="2550" b="1">
                <a:solidFill>
                  <a:srgbClr val="1547B9"/>
                </a:solidFill>
              </a:rPr>
              <a:t>3.599 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C668B-7D1A-4852-B34C-CD26B088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Dağıtım matrahı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881E5-6F0D-49C8-845C-F5B5FC49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002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47B9"/>
                </a:solidFill>
              </a:defRPr>
            </a:pPr>
            <a:r>
              <a:rPr sz="2550" b="1">
                <a:solidFill>
                  <a:srgbClr val="1547B9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48C3D-5B73-4832-80C4-BD69683C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14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Maksimum derinlik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F304B-063B-4054-9425-0AB5AB0E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002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9F62"/>
                </a:solidFill>
              </a:defRPr>
            </a:pPr>
            <a:r>
              <a:rPr sz="2550" b="1">
                <a:solidFill>
                  <a:srgbClr val="0F9F62"/>
                </a:solidFill>
              </a:rPr>
              <a:t>%77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80D5E-36B3-419D-BD2A-033BFB94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14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Tüm 10 seviye açıksa toplam oran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D2573-77AA-4ED8-B355-80862CB0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002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89116"/>
                </a:solidFill>
              </a:defRPr>
            </a:pPr>
            <a:r>
              <a:rPr sz="2550" b="1">
                <a:solidFill>
                  <a:srgbClr val="C89116"/>
                </a:solidFill>
              </a:rPr>
              <a:t>1 kez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44879-D5D5-45FD-AD63-CA33E5B4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Kişi başına ilk lisans tetikleyicisi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1FD321-8B1B-4724-B682-BD4C18A6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622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62B13-2AF0-4EAE-B4A0-FD16B2EC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5F3E08-57C7-4B00-9D5C-44A7FCE4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1026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Dağıtım sponsor zincirinde yukarı doğru ilerler.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15D80-F862-4812-92D1-714E5B61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1061EC-DD53-4BCE-9D24-5D4A22D6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1026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Her üst üye yalnızca kariyerinin açtığı derinlik kadar hak kazanır.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1A6479-E6AD-4F32-8B7F-DC80EF9F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FBD87-5D58-46CF-8BC9-BBEB02B2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91025"/>
            <a:ext cx="1026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Hak sahibi aktif ve lisanslı olmalıdır; lisans süresi geçmişse ödeme oluşmaz.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1F1B45-C451-43AE-B712-ADEA8652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FAD11-F620-457D-A148-513A6C9D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43475"/>
            <a:ext cx="1026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Aynı kaynak kullanıcı–seviye için tekrar ödeme engellenir ve işlem defterine yazılır.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AAC005-1813-45FE-AA05-93D1628C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15296272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B678C4-77CE-4DF7-A8D8-6413CE88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UNILEVEL ORANLARI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1898B-37C8-4531-94D2-B3E51104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3.599 TL matrah üzerinden seviye bazlı dağıtım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7C09D-5A75-4DAA-BA84-F58F9665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A024F-DFB0-4675-8EA9-D8A1F97A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BE933-F42B-4FCF-A144-7C451044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176"/>
                </a:solidFill>
              </a:defRPr>
            </a:pPr>
            <a:r>
              <a:rPr sz="1125" b="1">
                <a:solidFill>
                  <a:srgbClr val="526176"/>
                </a:solidFill>
              </a:rPr>
              <a:t>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99618-8B7D-4B70-B635-7D58F9CC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57350"/>
            <a:ext cx="7239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F3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2E7E7-0EEC-49EB-A18B-E7369CD6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57350"/>
            <a:ext cx="7239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47B9"/>
          </a:solidFill>
          <a:ln xmlns:a="http://schemas.openxmlformats.org/drawingml/2006/main" w="9525">
            <a:solidFill>
              <a:srgbClr val="1547B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4A673-4C96-478E-BAD1-871F7A89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71A3C"/>
                </a:solidFill>
              </a:defRPr>
            </a:pPr>
            <a:r>
              <a:rPr sz="1275" b="1">
                <a:solidFill>
                  <a:srgbClr val="071A3C"/>
                </a:solidFill>
              </a:rPr>
              <a:t>%50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85AB1-EAE6-4D25-8091-78C94624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F9F62"/>
                </a:solidFill>
              </a:defRPr>
            </a:pPr>
            <a:r>
              <a:rPr sz="1275" b="1">
                <a:solidFill>
                  <a:srgbClr val="0F9F62"/>
                </a:solidFill>
              </a:rPr>
              <a:t>1.799,50 TL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C1778-AB9E-4861-9F77-A6407DB0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176"/>
                </a:solidFill>
              </a:defRPr>
            </a:pPr>
            <a:r>
              <a:rPr sz="1125" b="1">
                <a:solidFill>
                  <a:srgbClr val="526176"/>
                </a:solidFill>
              </a:rPr>
              <a:t>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F0E14-5EE2-4DCB-9881-EDDF0071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95500"/>
            <a:ext cx="7239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F3F6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7599F-4329-44A1-BCF3-9F1FE23B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95500"/>
            <a:ext cx="14478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B8E8"/>
          </a:solidFill>
          <a:ln xmlns:a="http://schemas.openxmlformats.org/drawingml/2006/main" w="9525">
            <a:solidFill>
              <a:srgbClr val="34B8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93EA9-0189-4969-807D-7C563B34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71A3C"/>
                </a:solidFill>
              </a:defRPr>
            </a:pPr>
            <a:r>
              <a:rPr sz="1275" b="1">
                <a:solidFill>
                  <a:srgbClr val="071A3C"/>
                </a:solidFill>
              </a:rPr>
              <a:t>%10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1BC1E-CBDE-4EE6-96C0-65F09E07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574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F9F62"/>
                </a:solidFill>
              </a:defRPr>
            </a:pPr>
            <a:r>
              <a:rPr sz="1275" b="1">
                <a:solidFill>
                  <a:srgbClr val="0F9F62"/>
                </a:solidFill>
              </a:rPr>
              <a:t>359,90 TL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40897-0678-48E6-9BE3-CE1A59C7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176"/>
                </a:solidFill>
              </a:defRPr>
            </a:pPr>
            <a:r>
              <a:rPr sz="1125" b="1">
                <a:solidFill>
                  <a:srgbClr val="526176"/>
                </a:solidFill>
              </a:rPr>
              <a:t>3.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D663C-E8CB-4B6C-B738-D384EA58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7239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F3F6F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BD2FF0-7159-4B09-85C6-4A53C815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7239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B8E8"/>
          </a:solidFill>
          <a:ln xmlns:a="http://schemas.openxmlformats.org/drawingml/2006/main" w="9525">
            <a:solidFill>
              <a:srgbClr val="34B8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D9F2B-B000-411F-BC1A-24ACCD33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955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71A3C"/>
                </a:solidFill>
              </a:defRPr>
            </a:pPr>
            <a:r>
              <a:rPr sz="1275" b="1">
                <a:solidFill>
                  <a:srgbClr val="071A3C"/>
                </a:solidFill>
              </a:rPr>
              <a:t>%5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323B26-FE56-4CCD-B3F0-518FFE4E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95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F9F62"/>
                </a:solidFill>
              </a:defRPr>
            </a:pPr>
            <a:r>
              <a:rPr sz="1275" b="1">
                <a:solidFill>
                  <a:srgbClr val="0F9F62"/>
                </a:solidFill>
              </a:rPr>
              <a:t>179,95 TL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9118F-E2E3-4A07-B14B-9F5D24FC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176"/>
                </a:solidFill>
              </a:defRPr>
            </a:pPr>
            <a:r>
              <a:rPr sz="1125" b="1">
                <a:solidFill>
                  <a:srgbClr val="526176"/>
                </a:solidFill>
              </a:rPr>
              <a:t>4.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98CDA-CDB9-47A1-8ED3-527F8E4F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7239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F3F6F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F74A5-7155-479C-A7FE-EDFA183E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43434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B8E8"/>
          </a:solidFill>
          <a:ln xmlns:a="http://schemas.openxmlformats.org/drawingml/2006/main" w="9525">
            <a:solidFill>
              <a:srgbClr val="34B8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13F1DF-AAD4-4418-92B6-B7EFA9FC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71A3C"/>
                </a:solidFill>
              </a:defRPr>
            </a:pPr>
            <a:r>
              <a:rPr sz="1275" b="1">
                <a:solidFill>
                  <a:srgbClr val="071A3C"/>
                </a:solidFill>
              </a:rPr>
              <a:t>%3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027EB5-F7FE-4430-B8C8-9E84242F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337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F9F62"/>
                </a:solidFill>
              </a:defRPr>
            </a:pPr>
            <a:r>
              <a:rPr sz="1275" b="1">
                <a:solidFill>
                  <a:srgbClr val="0F9F62"/>
                </a:solidFill>
              </a:rPr>
              <a:t>107,97 TL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A3438D-8B69-48FA-A76D-C3A9AF78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176"/>
                </a:solidFill>
              </a:defRPr>
            </a:pPr>
            <a:r>
              <a:rPr sz="1125" b="1">
                <a:solidFill>
                  <a:srgbClr val="526176"/>
                </a:solidFill>
              </a:rPr>
              <a:t>5.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45759D-A7BB-437E-8AC2-2B0452A9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7239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F3F6F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33B828-0F10-41E3-9F49-1C47F1D6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28956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B8E8"/>
          </a:solidFill>
          <a:ln xmlns:a="http://schemas.openxmlformats.org/drawingml/2006/main" w="9525">
            <a:solidFill>
              <a:srgbClr val="34B8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77A1B1-4848-43DE-9BA4-069B68AF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718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71A3C"/>
                </a:solidFill>
              </a:defRPr>
            </a:pPr>
            <a:r>
              <a:rPr sz="1275" b="1">
                <a:solidFill>
                  <a:srgbClr val="071A3C"/>
                </a:solidFill>
              </a:rPr>
              <a:t>%2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A9BA25-A6B7-421A-A4FD-1B75C766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718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F9F62"/>
                </a:solidFill>
              </a:defRPr>
            </a:pPr>
            <a:r>
              <a:rPr sz="1275" b="1">
                <a:solidFill>
                  <a:srgbClr val="0F9F62"/>
                </a:solidFill>
              </a:rPr>
              <a:t>71,98 TL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D5BC01-C29C-464F-9E7F-6A02099F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176"/>
                </a:solidFill>
              </a:defRPr>
            </a:pPr>
            <a:r>
              <a:rPr sz="1125" b="1">
                <a:solidFill>
                  <a:srgbClr val="526176"/>
                </a:solidFill>
              </a:rPr>
              <a:t>6.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08BB22-2846-4749-BEC6-AADFE14B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7239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F3F6F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9BE100-FC7A-4281-B625-A4A54A1F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28956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B8E8"/>
          </a:solidFill>
          <a:ln xmlns:a="http://schemas.openxmlformats.org/drawingml/2006/main" w="9525">
            <a:solidFill>
              <a:srgbClr val="34B8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55DCA5-663A-48CB-8BF5-394CF234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71A3C"/>
                </a:solidFill>
              </a:defRPr>
            </a:pPr>
            <a:r>
              <a:rPr sz="1275" b="1">
                <a:solidFill>
                  <a:srgbClr val="071A3C"/>
                </a:solidFill>
              </a:rPr>
              <a:t>%2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E31A21-6C0F-46E9-8DB6-87B24641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100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F9F62"/>
                </a:solidFill>
              </a:defRPr>
            </a:pPr>
            <a:r>
              <a:rPr sz="1275" b="1">
                <a:solidFill>
                  <a:srgbClr val="0F9F62"/>
                </a:solidFill>
              </a:rPr>
              <a:t>71,98 TL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E90190-E89F-486D-B8B7-3ECFAA34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176"/>
                </a:solidFill>
              </a:defRPr>
            </a:pPr>
            <a:r>
              <a:rPr sz="1125" b="1">
                <a:solidFill>
                  <a:srgbClr val="526176"/>
                </a:solidFill>
              </a:rPr>
              <a:t>7.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AF0620-A950-4D8C-89A8-913A1560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7239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F3F6F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4420C3-E84E-43D1-B473-63CAA418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28956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B8E8"/>
          </a:solidFill>
          <a:ln xmlns:a="http://schemas.openxmlformats.org/drawingml/2006/main" w="9525">
            <a:solidFill>
              <a:srgbClr val="34B8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1D5C71-5C2C-4290-BA04-0CE143DD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481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71A3C"/>
                </a:solidFill>
              </a:defRPr>
            </a:pPr>
            <a:r>
              <a:rPr sz="1275" b="1">
                <a:solidFill>
                  <a:srgbClr val="071A3C"/>
                </a:solidFill>
              </a:rPr>
              <a:t>%2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162295-94AD-4E4F-8A95-A97B95F1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48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F9F62"/>
                </a:solidFill>
              </a:defRPr>
            </a:pPr>
            <a:r>
              <a:rPr sz="1275" b="1">
                <a:solidFill>
                  <a:srgbClr val="0F9F62"/>
                </a:solidFill>
              </a:rPr>
              <a:t>71,98 TL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F53A22-5A28-4556-BD8D-045E4426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176"/>
                </a:solidFill>
              </a:defRPr>
            </a:pPr>
            <a:r>
              <a:rPr sz="1125" b="1">
                <a:solidFill>
                  <a:srgbClr val="526176"/>
                </a:solidFill>
              </a:rPr>
              <a:t>8.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1D0F39-840B-4A5A-A5C8-738EAB72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4400"/>
            <a:ext cx="7239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F3F6F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046D72-1E4F-4677-A353-201C25DC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4400"/>
            <a:ext cx="14478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B8E8"/>
          </a:solidFill>
          <a:ln xmlns:a="http://schemas.openxmlformats.org/drawingml/2006/main" w="9525">
            <a:solidFill>
              <a:srgbClr val="34B8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8341E6-53E0-4185-BBD0-90453F04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8630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71A3C"/>
                </a:solidFill>
              </a:defRPr>
            </a:pPr>
            <a:r>
              <a:rPr sz="1275" b="1">
                <a:solidFill>
                  <a:srgbClr val="071A3C"/>
                </a:solidFill>
              </a:rPr>
              <a:t>%1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6503FA-28FA-4CC6-8F41-631F6D24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F9F62"/>
                </a:solidFill>
              </a:defRPr>
            </a:pPr>
            <a:r>
              <a:rPr sz="1275" b="1">
                <a:solidFill>
                  <a:srgbClr val="0F9F62"/>
                </a:solidFill>
              </a:rPr>
              <a:t>35,99 TL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AC4044-08D5-40B2-BFBF-CCBA5F1D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176"/>
                </a:solidFill>
              </a:defRPr>
            </a:pPr>
            <a:r>
              <a:rPr sz="1125" b="1">
                <a:solidFill>
                  <a:srgbClr val="526176"/>
                </a:solidFill>
              </a:rPr>
              <a:t>9.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63F8BD-EEEA-423D-8DA7-9B63154F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62550"/>
            <a:ext cx="7239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F3F6F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335B9A-E908-41EE-80B5-3C85BE4B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62550"/>
            <a:ext cx="14478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B8E8"/>
          </a:solidFill>
          <a:ln xmlns:a="http://schemas.openxmlformats.org/drawingml/2006/main" w="9525">
            <a:solidFill>
              <a:srgbClr val="34B8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D0F764-21F8-4766-89A7-080FEAA0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244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71A3C"/>
                </a:solidFill>
              </a:defRPr>
            </a:pPr>
            <a:r>
              <a:rPr sz="1275" b="1">
                <a:solidFill>
                  <a:srgbClr val="071A3C"/>
                </a:solidFill>
              </a:rPr>
              <a:t>%1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A677A8-82B4-4994-8167-DC1CEB4B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244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F9F62"/>
                </a:solidFill>
              </a:defRPr>
            </a:pPr>
            <a:r>
              <a:rPr sz="1275" b="1">
                <a:solidFill>
                  <a:srgbClr val="0F9F62"/>
                </a:solidFill>
              </a:rPr>
              <a:t>35,99 TL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75E6CC-ECA7-467F-A7FB-FF04610B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176"/>
                </a:solidFill>
              </a:defRPr>
            </a:pPr>
            <a:r>
              <a:rPr sz="1125" b="1">
                <a:solidFill>
                  <a:srgbClr val="526176"/>
                </a:solidFill>
              </a:rPr>
              <a:t>10.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3EC6F9B-E746-4DEA-BC05-54D4628B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00700"/>
            <a:ext cx="7239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F3F6F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DA5530-531C-45E6-935C-6EED691C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00700"/>
            <a:ext cx="14478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B8E8"/>
          </a:solidFill>
          <a:ln xmlns:a="http://schemas.openxmlformats.org/drawingml/2006/main" w="9525">
            <a:solidFill>
              <a:srgbClr val="34B8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42A745-02D1-4B26-B0B1-9030A51F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6260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71A3C"/>
                </a:solidFill>
              </a:defRPr>
            </a:pPr>
            <a:r>
              <a:rPr sz="1275" b="1">
                <a:solidFill>
                  <a:srgbClr val="071A3C"/>
                </a:solidFill>
              </a:rPr>
              <a:t>%1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FCE529-FB53-4E28-81AA-1A3B8191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626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F9F62"/>
                </a:solidFill>
              </a:defRPr>
            </a:pPr>
            <a:r>
              <a:rPr sz="1275" b="1">
                <a:solidFill>
                  <a:srgbClr val="0F9F62"/>
                </a:solidFill>
              </a:rPr>
              <a:t>35,99 TL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782FB2-8973-4FB3-BA13-40A6318E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8575935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1AC83D-44BC-42B7-A6A1-82750C7E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KARIYER ANAHTARI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4FD74-F6D3-4824-8617-7223C10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Unilevel ve ürün ağı için açılan derinlik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432D4-FC2A-4B28-85A0-6B841F9B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B21F2-D3AC-4D7D-B7AB-9EDEF0B1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5FBAE-59AF-4268-8E55-CBE9B319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1352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547B9"/>
                </a:solidFill>
              </a:defRPr>
            </a:pPr>
            <a:r>
              <a:rPr sz="3300" b="1">
                <a:solidFill>
                  <a:srgbClr val="1547B9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E21FA-8EDF-4808-BD5A-17EC820E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0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4B8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29991-D4BE-47AD-8C40-1C9BCB46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A3C"/>
                </a:solidFill>
              </a:defRPr>
            </a:pPr>
            <a:r>
              <a:rPr sz="1350" b="1">
                <a:solidFill>
                  <a:srgbClr val="071A3C"/>
                </a:solidFill>
              </a:rPr>
              <a:t>Başlangıç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42803-03E0-4BCC-ADCE-FF1017F1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62125"/>
            <a:ext cx="1352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547B9"/>
                </a:solidFill>
              </a:defRPr>
            </a:pPr>
            <a:r>
              <a:rPr sz="3300" b="1">
                <a:solidFill>
                  <a:srgbClr val="1547B9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BC64A-1C71-4C58-8D2D-85017963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86050"/>
            <a:ext cx="100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4B8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9132A-E51B-4216-924B-AA4E848A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A3C"/>
                </a:solidFill>
              </a:defRPr>
            </a:pPr>
            <a:r>
              <a:rPr sz="1350" b="1">
                <a:solidFill>
                  <a:srgbClr val="071A3C"/>
                </a:solidFill>
              </a:rPr>
              <a:t>Bronz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5F00F-A5C3-4EBA-981D-C380BEE0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762125"/>
            <a:ext cx="1352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547B9"/>
                </a:solidFill>
              </a:defRPr>
            </a:pPr>
            <a:r>
              <a:rPr sz="3300" b="1">
                <a:solidFill>
                  <a:srgbClr val="1547B9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B118E-D31B-4CB6-8362-9E157763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86050"/>
            <a:ext cx="100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4B8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244C8-2687-4C94-A6A8-863503DF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5275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A3C"/>
                </a:solidFill>
              </a:defRPr>
            </a:pPr>
            <a:r>
              <a:rPr sz="1350" b="1">
                <a:solidFill>
                  <a:srgbClr val="071A3C"/>
                </a:solidFill>
              </a:rPr>
              <a:t>Gümüş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3B34D-C6FD-4991-B063-EA18E286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62125"/>
            <a:ext cx="1352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71A3C"/>
                </a:solidFill>
              </a:defRPr>
            </a:pPr>
            <a:r>
              <a:rPr sz="3300" b="1">
                <a:solidFill>
                  <a:srgbClr val="071A3C"/>
                </a:solidFill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14B4AE-6239-4FC9-9946-047187D0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86050"/>
            <a:ext cx="100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891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D5F2E-D55D-467E-8C2B-ABC468C5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5275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A3C"/>
                </a:solidFill>
              </a:defRPr>
            </a:pPr>
            <a:r>
              <a:rPr sz="1350" b="1">
                <a:solidFill>
                  <a:srgbClr val="071A3C"/>
                </a:solidFill>
              </a:rPr>
              <a:t>Altın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56D26-09B8-40D7-8DC1-18311392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62125"/>
            <a:ext cx="1352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71A3C"/>
                </a:solidFill>
              </a:defRPr>
            </a:pPr>
            <a:r>
              <a:rPr sz="3300" b="1">
                <a:solidFill>
                  <a:srgbClr val="071A3C"/>
                </a:solidFill>
              </a:rPr>
              <a:t>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D9D36-6819-461D-86E6-C720C2BB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86050"/>
            <a:ext cx="100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891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3B515-6AEA-4BA2-B4E4-1576F80E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5275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A3C"/>
                </a:solidFill>
              </a:defRPr>
            </a:pPr>
            <a:r>
              <a:rPr sz="1350" b="1">
                <a:solidFill>
                  <a:srgbClr val="071A3C"/>
                </a:solidFill>
              </a:rPr>
              <a:t>Platin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E3A50-0C12-4CE6-9E57-629F012F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62125"/>
            <a:ext cx="1352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71A3C"/>
                </a:solidFill>
              </a:defRPr>
            </a:pPr>
            <a:r>
              <a:rPr sz="3300" b="1">
                <a:solidFill>
                  <a:srgbClr val="071A3C"/>
                </a:solidFill>
              </a:rPr>
              <a:t>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5F34A-EBA0-41FC-9C18-43B60710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86050"/>
            <a:ext cx="100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8911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77184A-16C8-4B10-B8D0-C1E66152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5275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A3C"/>
                </a:solidFill>
              </a:defRPr>
            </a:pPr>
            <a:r>
              <a:rPr sz="1350" b="1">
                <a:solidFill>
                  <a:srgbClr val="071A3C"/>
                </a:solidFill>
              </a:rPr>
              <a:t>Elmas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129580-A779-4B87-B4D9-06665907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62125"/>
            <a:ext cx="1352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71A3C"/>
                </a:solidFill>
              </a:defRPr>
            </a:pPr>
            <a:r>
              <a:rPr sz="3300" b="1">
                <a:solidFill>
                  <a:srgbClr val="071A3C"/>
                </a:solidFill>
              </a:rPr>
              <a:t>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30ADCA-52CF-4BFF-94B4-ACB5CC86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86050"/>
            <a:ext cx="100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8911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784E98-A2FC-4096-9C2A-F4C62379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5275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A3C"/>
                </a:solidFill>
              </a:defRPr>
            </a:pPr>
            <a:r>
              <a:rPr sz="1350" b="1">
                <a:solidFill>
                  <a:srgbClr val="071A3C"/>
                </a:solidFill>
              </a:rPr>
              <a:t>Taç Elmas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6294A4-DA39-481B-9DE9-ADBE13A1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47B9"/>
                </a:solidFill>
              </a:defRPr>
            </a:pPr>
            <a:r>
              <a:rPr sz="1050" b="1">
                <a:solidFill>
                  <a:srgbClr val="1547B9"/>
                </a:solidFill>
              </a:rPr>
              <a:t>Örnek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971C39-B538-4A0A-84EB-A15DD0A6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A3C"/>
                </a:solidFill>
              </a:defRPr>
            </a:pPr>
            <a:r>
              <a:rPr sz="2025" b="1">
                <a:solidFill>
                  <a:srgbClr val="071A3C"/>
                </a:solidFill>
              </a:rPr>
              <a:t>Kariyersiz üye 1. seviyeyi; Bronz üye 1–2. seviyeleri; Platin üye 1–7. seviyeleri alabilir.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4946DF-3C1C-4997-8D73-45BD5AE4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3535"/>
                </a:solidFill>
              </a:defRPr>
            </a:pPr>
            <a:r>
              <a:rPr sz="1425" b="1">
                <a:solidFill>
                  <a:srgbClr val="C73535"/>
                </a:solidFill>
              </a:rPr>
              <a:t>Atlanan seviye şirkette kalır; alt veya üst seviyeye aktarılmaz.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CA1B0B-4309-4AAB-9247-BA2F9B67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15786888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9DDD96-8673-4204-BBA1-37AA8B55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34A0D-8DF3-4000-91A5-D86E13D6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Lisansla başlayan 2 kollu yerleşim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A9503-7A09-487B-B58E-7D45F821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0F520-1260-4387-81BC-F618E66E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DD34D-AAAB-483C-AA8A-5B44EDE7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716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Sponsor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C2C0D-379F-41B7-B94F-D03E69B2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71625"/>
            <a:ext cx="1809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A3C"/>
          </a:solidFill>
          <a:ln xmlns:a="http://schemas.openxmlformats.org/drawingml/2006/main" w="9525">
            <a:solidFill>
              <a:srgbClr val="071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ACF08-4437-4E07-9C35-5C8DF2A3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1381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B6C34-8C33-4381-A0FA-E3365E1E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A3C"/>
                </a:solidFill>
              </a:defRPr>
            </a:pPr>
            <a:r>
              <a:rPr sz="1200" b="1">
                <a:solidFill>
                  <a:srgbClr val="071A3C"/>
                </a:solidFill>
              </a:rPr>
              <a:t>1. kat /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A4F9E-7B38-4EE9-AA22-8D33143C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1381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74053-8366-4710-BDC4-4EB5CB42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A3C"/>
                </a:solidFill>
              </a:defRPr>
            </a:pPr>
            <a:r>
              <a:rPr sz="1200" b="1">
                <a:solidFill>
                  <a:srgbClr val="071A3C"/>
                </a:solidFill>
              </a:rPr>
              <a:t>1. kat /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52956-BAEB-434C-A38A-70E99B13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00500"/>
            <a:ext cx="1381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5B3BA-1CE8-4BEB-AA02-C34D0A0C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0050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A3C"/>
                </a:solidFill>
              </a:defRPr>
            </a:pPr>
            <a:r>
              <a:rPr sz="1200" b="1">
                <a:solidFill>
                  <a:srgbClr val="071A3C"/>
                </a:solidFill>
              </a:rPr>
              <a:t>2. kat /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263D4-0661-44DE-B298-87312094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1381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7BB3B-E59D-418A-98BF-4E87046A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A3C"/>
                </a:solidFill>
              </a:defRPr>
            </a:pPr>
            <a:r>
              <a:rPr sz="1200" b="1">
                <a:solidFill>
                  <a:srgbClr val="071A3C"/>
                </a:solidFill>
              </a:rPr>
              <a:t>2. kat /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DDA9F-2B36-4899-B713-0C0AB480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1381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5EA16-D934-4BC2-B640-7E308B6C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A3C"/>
                </a:solidFill>
              </a:defRPr>
            </a:pPr>
            <a:r>
              <a:rPr sz="1200" b="1">
                <a:solidFill>
                  <a:srgbClr val="071A3C"/>
                </a:solidFill>
              </a:rPr>
              <a:t>2. kat /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16A048-44E1-4C96-BC66-5425B4FF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1381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A8FDFC-A0E1-45F3-B08C-19044A5C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A3C"/>
                </a:solidFill>
              </a:defRPr>
            </a:pPr>
            <a:r>
              <a:rPr sz="1200" b="1">
                <a:solidFill>
                  <a:srgbClr val="071A3C"/>
                </a:solidFill>
              </a:rPr>
              <a:t>2. kat /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3B04CC-CD10-40B9-A412-C4540810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28825"/>
            <a:ext cx="1685925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47B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46D9BC-C544-4111-9C5C-7DCC6849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28825"/>
            <a:ext cx="125730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47B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C80DD6-24DD-4D5E-B731-B025E94A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14700"/>
            <a:ext cx="114300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47B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EA8FB5-0994-44AA-9A18-8D541128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14700"/>
            <a:ext cx="80962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47B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C85300-5C48-4820-82BB-B6C361C1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14700"/>
            <a:ext cx="38100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47B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2984B6-98FE-4F79-87D1-A18465B9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14700"/>
            <a:ext cx="157162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47B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20FCF0-0767-4B4B-AC1E-C0E9292B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47B9"/>
                </a:solidFill>
              </a:defRPr>
            </a:pPr>
            <a:r>
              <a:rPr sz="1050" b="1">
                <a:solidFill>
                  <a:srgbClr val="1547B9"/>
                </a:solidFill>
              </a:rPr>
              <a:t>Yerleşim koşulu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6F7FC2-EAB7-4E65-9581-F6FEDF87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C"/>
                </a:solidFill>
              </a:defRPr>
            </a:pPr>
            <a:r>
              <a:rPr sz="1575" b="1">
                <a:solidFill>
                  <a:srgbClr val="071A3C"/>
                </a:solidFill>
              </a:rPr>
              <a:t>Kullanıcının ağaçta görünmesi için lisans paketi alması gerekir; kayıt tek başına Matrix yerleşimi oluşturmaz.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B3FF1B-A3B7-48D7-9E61-E4CCD5FB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10061180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34F126-57EA-4508-990B-6E6E8DB0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MATRIX KAZANCI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DB2FA-0DF2-41ED-AD49-A2D8F85C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Aylık Pro ödemesinin kariyer ağında dağıtımı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EDA04-46D3-4E55-BC98-A16096DB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88327-ECBB-4E01-9ACC-46E25DE7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514FE-081A-4017-A3D3-6B334774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3143250" cy="3619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71A3C"/>
          </a:solidFill>
          <a:ln xmlns:a="http://schemas.openxmlformats.org/drawingml/2006/main" w="9525">
            <a:solidFill>
              <a:srgbClr val="071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CAD4E-071A-4E21-B5BB-A54A48FA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799 TL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43CFF-E96C-4719-AEBE-56D7C967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5FF"/>
                </a:solidFill>
              </a:defRPr>
            </a:pPr>
            <a:r>
              <a:rPr sz="1275" b="0">
                <a:solidFill>
                  <a:srgbClr val="D7E5FF"/>
                </a:solidFill>
              </a:rPr>
              <a:t>Aylık Pro matrahı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5F501-36D3-496F-89E9-36C135FB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1721A-81A6-4675-AA31-62FBF203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4B8E8"/>
                </a:solidFill>
              </a:defRPr>
            </a:pPr>
            <a:r>
              <a:rPr sz="2550" b="1">
                <a:solidFill>
                  <a:srgbClr val="34B8E8"/>
                </a:solidFill>
              </a:rPr>
              <a:t>23,97 TL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A3571-6E6B-4955-9FA1-79840D88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Her uygun Matrix üstüne %3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73785-30B4-4F1B-A361-ACB33D52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A3C"/>
                </a:solidFill>
              </a:defRPr>
            </a:pPr>
            <a:r>
              <a:rPr sz="1500" b="1">
                <a:solidFill>
                  <a:srgbClr val="071A3C"/>
                </a:solidFill>
              </a:rPr>
              <a:t>Başlangıç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E0354-C1A4-41BB-8EDB-2A4139ED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3ECD9-FCF8-4B97-809F-F965B855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145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547B9"/>
                </a:solidFill>
              </a:defRPr>
            </a:pPr>
            <a:r>
              <a:rPr sz="1650" b="1">
                <a:solidFill>
                  <a:srgbClr val="1547B9"/>
                </a:solidFill>
              </a:rPr>
              <a:t>12 seviye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2F35B-D9F9-4D3D-9622-E9C701AD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9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A3C"/>
                </a:solidFill>
              </a:defRPr>
            </a:pPr>
            <a:r>
              <a:rPr sz="1500" b="1">
                <a:solidFill>
                  <a:srgbClr val="071A3C"/>
                </a:solidFill>
              </a:rPr>
              <a:t>Bronz / Gümüş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EB3B0-072B-4A95-BA13-354304A6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03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B8A3A-E31E-4B9D-8674-D8254469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908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547B9"/>
                </a:solidFill>
              </a:defRPr>
            </a:pPr>
            <a:r>
              <a:rPr sz="1650" b="1">
                <a:solidFill>
                  <a:srgbClr val="1547B9"/>
                </a:solidFill>
              </a:rPr>
              <a:t>13 seviye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C7294-923F-4F83-B4B0-331DA5F6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671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A3C"/>
                </a:solidFill>
              </a:defRPr>
            </a:pPr>
            <a:r>
              <a:rPr sz="1500" b="1">
                <a:solidFill>
                  <a:srgbClr val="071A3C"/>
                </a:solidFill>
              </a:rPr>
              <a:t>Altın / Platin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2244D-DEAA-4098-A70A-F79B45B9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766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D19F2-EB26-457E-90FF-E6845989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671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547B9"/>
                </a:solidFill>
              </a:defRPr>
            </a:pPr>
            <a:r>
              <a:rPr sz="1650" b="1">
                <a:solidFill>
                  <a:srgbClr val="1547B9"/>
                </a:solidFill>
              </a:rPr>
              <a:t>14 seviye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646B96-06B4-46A2-B202-A95EEFA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434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A3C"/>
                </a:solidFill>
              </a:defRPr>
            </a:pPr>
            <a:r>
              <a:rPr sz="1500" b="1">
                <a:solidFill>
                  <a:srgbClr val="071A3C"/>
                </a:solidFill>
              </a:rPr>
              <a:t>Elmas / Taç Elmas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172E6-0552-43BA-9288-FB7B0607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529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5307EE-4F5B-4D55-9A9C-D678B6F7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434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547B9"/>
                </a:solidFill>
              </a:defRPr>
            </a:pPr>
            <a:r>
              <a:rPr sz="1650" b="1">
                <a:solidFill>
                  <a:srgbClr val="1547B9"/>
                </a:solidFill>
              </a:rPr>
              <a:t>15 seviye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A68624-3374-493B-9971-9104F640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91150"/>
            <a:ext cx="690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3535"/>
                </a:solidFill>
              </a:defRPr>
            </a:pPr>
            <a:r>
              <a:rPr sz="1350" b="1">
                <a:solidFill>
                  <a:srgbClr val="C73535"/>
                </a:solidFill>
              </a:rPr>
              <a:t>İlk ay Matrix ödeme yoktur; yıllık planda 11, iki yıllık planda 23 aylık Matrix çalışması planlanır.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C71DBC-B185-4B94-8A1F-744F09BD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21261824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85C50A-31D7-4791-904C-B9F369DC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KARIYER PLANI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7A76B-C686-4FB5-8DCC-BC696856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Seviye yükselme şartları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92E16-E500-42A0-BE9E-107EC3DE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BA2FB-3258-4CA3-A054-9BB391F0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F6BEF-182F-407F-88C7-2E80AFB0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47B9"/>
                </a:solidFill>
              </a:defRPr>
            </a:pPr>
            <a:r>
              <a:rPr sz="1050" b="1">
                <a:solidFill>
                  <a:srgbClr val="1547B9"/>
                </a:solidFill>
              </a:rPr>
              <a:t>Kariyer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01ACB-F71B-41D5-BCB3-517FC547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668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47B9"/>
                </a:solidFill>
              </a:defRPr>
            </a:pPr>
            <a:r>
              <a:rPr sz="1050" b="1">
                <a:solidFill>
                  <a:srgbClr val="1547B9"/>
                </a:solidFill>
              </a:rPr>
              <a:t>Ana koşul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F2E7D-A97F-4312-8D80-F08BB89E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668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47B9"/>
                </a:solidFill>
              </a:defRPr>
            </a:pPr>
            <a:r>
              <a:rPr sz="1050" b="1">
                <a:solidFill>
                  <a:srgbClr val="1547B9"/>
                </a:solidFill>
              </a:rPr>
              <a:t>Alternatif / denge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3279F-1422-43BB-92FF-C928E2DC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1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4291A-C2AC-4743-867E-175D55BA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11201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F3F6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0FFC7-14E2-40AD-988D-C4931CEA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A3C"/>
                </a:solidFill>
              </a:defRPr>
            </a:pPr>
            <a:r>
              <a:rPr sz="1275" b="1">
                <a:solidFill>
                  <a:srgbClr val="071A3C"/>
                </a:solidFill>
              </a:rPr>
              <a:t>Bronz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F750B-EE41-4E5B-95D7-E49E680F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2 kişisel aktif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249FF-832D-46BA-815D-34B42377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3CA3E-2F12-4060-BE94-3B5CDF6F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A3C"/>
                </a:solidFill>
              </a:defRPr>
            </a:pPr>
            <a:r>
              <a:rPr sz="1275" b="1">
                <a:solidFill>
                  <a:srgbClr val="071A3C"/>
                </a:solidFill>
              </a:rPr>
              <a:t>Gümüş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07085-71BE-4E27-99AA-CE3BB794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622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10 kişisel + 20 toplam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723EF-BFC6-42B4-95FF-77AD98BE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veya 3 Bronz kol + 20 toplam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80DE3-A4E6-4ED3-848C-99A4A79E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11201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F3F6F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0D189-33B3-4832-9A54-465A275E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A3C"/>
                </a:solidFill>
              </a:defRPr>
            </a:pPr>
            <a:r>
              <a:rPr sz="1275" b="1">
                <a:solidFill>
                  <a:srgbClr val="071A3C"/>
                </a:solidFill>
              </a:rPr>
              <a:t>Altın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06ACB-99BF-49BA-B700-BA259256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30 kişisel + 100 toplam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C2120-9DD1-47FA-B94D-3060DD8C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veya 3 Gümüş kol / dengeli 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71FB9D-E7F4-4303-A2DF-7ED05428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A3C"/>
                </a:solidFill>
              </a:defRPr>
            </a:pPr>
            <a:r>
              <a:rPr sz="1275" b="1">
                <a:solidFill>
                  <a:srgbClr val="071A3C"/>
                </a:solidFill>
              </a:rPr>
              <a:t>Platin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83435E-CA89-4365-AB97-E2193C0C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100 kişisel + 500 toplam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D937B4-283D-4407-9CB1-2CE462F3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veya 3 Altın kol / dengeli 500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124606-75BA-420D-90B1-A713DFAC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14875"/>
            <a:ext cx="11201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F3F6F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2282E4-4797-4612-A589-841289D9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A3C"/>
                </a:solidFill>
              </a:defRPr>
            </a:pPr>
            <a:r>
              <a:rPr sz="1275" b="1">
                <a:solidFill>
                  <a:srgbClr val="071A3C"/>
                </a:solidFill>
              </a:rPr>
              <a:t>Elmas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13558A-CE7A-4EFF-977D-0D1AADEC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2.400 dengeli toplam üye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FF0710-3A2F-4157-8DE0-40E2E344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3 Platin kol; kol başı max 600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0023C4-D17E-44DC-88AB-9A0FA548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A3C"/>
                </a:solidFill>
              </a:defRPr>
            </a:pPr>
            <a:r>
              <a:rPr sz="1275" b="1">
                <a:solidFill>
                  <a:srgbClr val="071A3C"/>
                </a:solidFill>
              </a:rPr>
              <a:t>Taç Elmas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5EF61C-E7C0-4852-934F-BDF965B3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292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50.000 dengeli toplam üye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481935-7A9A-4191-8A54-7926AE39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29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5 ayrı kol; her biri ≥10.000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ED033E-BEDE-48C4-A851-CFFADA0B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2690914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F4A269-5B8E-4411-A6E4-D743D4B5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ÜRÜN AĞI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00676-97B5-487A-A7B2-D9AFEADD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Normal fiyatla satış: fiyat farkının %50’si dağıtılır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94A2E-338F-4655-9A61-EC8C93A2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E586F-F4AA-42F1-9231-289CC449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A040A-FB03-4AC3-870D-3A16607C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47B9"/>
                </a:solidFill>
              </a:defRPr>
            </a:pPr>
            <a:r>
              <a:rPr sz="1050" b="1">
                <a:solidFill>
                  <a:srgbClr val="1547B9"/>
                </a:solidFill>
              </a:rPr>
              <a:t>Matrah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DC5E2-86A1-4F6D-A0A1-45E0F059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A3C"/>
                </a:solidFill>
              </a:defRPr>
            </a:pPr>
            <a:r>
              <a:rPr sz="2025" b="1">
                <a:solidFill>
                  <a:srgbClr val="071A3C"/>
                </a:solidFill>
              </a:rPr>
              <a:t>Normal fiyat − lisanslı fiyat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1A417-2D1E-40ED-B2DC-BB12A447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A3C"/>
          </a:solidFill>
          <a:ln xmlns:a="http://schemas.openxmlformats.org/drawingml/2006/main" w="9525">
            <a:solidFill>
              <a:srgbClr val="071A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7CEC2-8C2C-491D-93E2-26766D40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B8E8"/>
                </a:solidFill>
              </a:defRPr>
            </a:pPr>
            <a:r>
              <a:rPr sz="975" b="1">
                <a:solidFill>
                  <a:srgbClr val="34B8E8"/>
                </a:solidFill>
              </a:rPr>
              <a:t>1. seviye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E4325-2695-44ED-8D1A-3BE1B160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194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%25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BDD96-E53A-4588-BC4A-30233DFC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7F2A9-86FA-492A-A530-FE8D98ED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6230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2. seviye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E125C-694C-44FA-BB8C-65C708DF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194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C"/>
                </a:solidFill>
              </a:defRPr>
            </a:pPr>
            <a:r>
              <a:rPr sz="1875" b="1">
                <a:solidFill>
                  <a:srgbClr val="071A3C"/>
                </a:solidFill>
              </a:rPr>
              <a:t>%5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6BC5F-D145-4283-BFCE-5B500801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800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9099E-F226-4672-B837-A80228CD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6230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3. seviye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0FE7C-0EED-4582-A545-5B096482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194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C"/>
                </a:solidFill>
              </a:defRPr>
            </a:pPr>
            <a:r>
              <a:rPr sz="1875" b="1">
                <a:solidFill>
                  <a:srgbClr val="071A3C"/>
                </a:solidFill>
              </a:rPr>
              <a:t>%5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4517D-DA16-47D1-893A-7B7A599C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3A00A-7D77-49CD-8D36-8C9F3961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6230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4. seviye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1E4125-A570-4CA9-B45D-AC48EA36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194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C"/>
                </a:solidFill>
              </a:defRPr>
            </a:pPr>
            <a:r>
              <a:rPr sz="1875" b="1">
                <a:solidFill>
                  <a:srgbClr val="071A3C"/>
                </a:solidFill>
              </a:rPr>
              <a:t>%3,75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27254C-53CD-4877-BDE0-BAD6F595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4800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D117EA-1F69-4655-9395-6C5ADCE3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6230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5. seviye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0079EC-941B-42CB-8B45-EE0ED540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194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C"/>
                </a:solidFill>
              </a:defRPr>
            </a:pPr>
            <a:r>
              <a:rPr sz="1875" b="1">
                <a:solidFill>
                  <a:srgbClr val="071A3C"/>
                </a:solidFill>
              </a:rPr>
              <a:t>%2,5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0FC86-9FD1-4D5E-88CF-6197AC7A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EECA64-0C16-4E44-8BC4-C648491C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6. seviye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7664A-56CC-478A-BD4C-898D17CD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C"/>
                </a:solidFill>
              </a:defRPr>
            </a:pPr>
            <a:r>
              <a:rPr sz="1875" b="1">
                <a:solidFill>
                  <a:srgbClr val="071A3C"/>
                </a:solidFill>
              </a:rPr>
              <a:t>%2,5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1E2B31-4693-4C2A-9479-9D28A908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184F67-FD20-4F34-ADEB-15C2DB70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862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7. seviye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B17621-0160-4887-AA90-F1EC8C02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4342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C"/>
                </a:solidFill>
              </a:defRPr>
            </a:pPr>
            <a:r>
              <a:rPr sz="1875" b="1">
                <a:solidFill>
                  <a:srgbClr val="071A3C"/>
                </a:solidFill>
              </a:rPr>
              <a:t>%2,5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4924D6-B73D-4007-B0F9-708D5347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7195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19DB0C-789A-487B-B420-CE14306E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8. seviye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FB5B70-90B8-4F4E-8617-AF2D1170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4342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C"/>
                </a:solidFill>
              </a:defRPr>
            </a:pPr>
            <a:r>
              <a:rPr sz="1875" b="1">
                <a:solidFill>
                  <a:srgbClr val="071A3C"/>
                </a:solidFill>
              </a:rPr>
              <a:t>%1,25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21B3FE-E784-436E-9B36-4200C6B6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C99F34-039F-4375-AA1D-2BB3ACBE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862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9. seviye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7E13BA-0907-413F-AFC1-A5C74384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4342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C"/>
                </a:solidFill>
              </a:defRPr>
            </a:pPr>
            <a:r>
              <a:rPr sz="1875" b="1">
                <a:solidFill>
                  <a:srgbClr val="071A3C"/>
                </a:solidFill>
              </a:rPr>
              <a:t>%1,25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422A45-58AF-4804-8795-8BB1CDBC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7195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431565-F586-4506-9F49-2581EBE3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862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10. seviye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AF9587-278F-420F-A548-BA436B76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4342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C"/>
                </a:solidFill>
              </a:defRPr>
            </a:pPr>
            <a:r>
              <a:rPr sz="1875" b="1">
                <a:solidFill>
                  <a:srgbClr val="071A3C"/>
                </a:solidFill>
              </a:rPr>
              <a:t>%1,25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72D9E4-7C2A-410E-8D73-F01B76E7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721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9F62"/>
                </a:solidFill>
              </a:defRPr>
            </a:pPr>
            <a:r>
              <a:rPr sz="1800" b="1">
                <a:solidFill>
                  <a:srgbClr val="0F9F62"/>
                </a:solidFill>
              </a:rPr>
              <a:t>%50 ağ dağıtımı • %50 şirket payı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50B437-6749-41E9-80C8-C05CFAEB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18666163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67F028-FF15-4C19-86C8-9BDDDB03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ÜRÜN AĞI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DE088-6242-45D7-A4CA-1AA4797F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Lisanslı indirimli satış: sipariş toplamının %10’u dağıtılır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6671D-111C-4823-BA48-EA6E1A1C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37509-9B82-4E6D-A3A5-10D051A1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9BBB1-58BF-4145-AFD6-C9383D8C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47B9"/>
                </a:solidFill>
              </a:defRPr>
            </a:pPr>
            <a:r>
              <a:rPr sz="1050" b="1">
                <a:solidFill>
                  <a:srgbClr val="1547B9"/>
                </a:solidFill>
              </a:rPr>
              <a:t>Matrah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BC9C4-0D4A-4A52-81AC-992D48E2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A3C"/>
                </a:solidFill>
              </a:defRPr>
            </a:pPr>
            <a:r>
              <a:rPr sz="2025" b="1">
                <a:solidFill>
                  <a:srgbClr val="071A3C"/>
                </a:solidFill>
              </a:rPr>
              <a:t>İndirimli ürün toplamı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420BD-996A-4AAB-B28D-13F16A12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547B9"/>
          </a:solidFill>
          <a:ln xmlns:a="http://schemas.openxmlformats.org/drawingml/2006/main" w="9525">
            <a:solidFill>
              <a:srgbClr val="1547B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28109-BB00-4D5E-BEFC-96C15830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1. seviye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8524F-1DF0-488C-A034-206CE6D0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194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%5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D422B-BC3A-4FE5-8AB4-28AA2CDC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B4FF6-AC16-43D4-BF87-5D70A37B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6230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2. seviye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6448A-C640-44CE-9AE9-7DE00B66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194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C"/>
                </a:solidFill>
              </a:defRPr>
            </a:pPr>
            <a:r>
              <a:rPr sz="1875" b="1">
                <a:solidFill>
                  <a:srgbClr val="071A3C"/>
                </a:solidFill>
              </a:rPr>
              <a:t>%1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AF458-2E04-401D-ABB1-F16A72D4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800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2FC3B-6AD0-4358-A4DA-8E71F7F8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6230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3. seviye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AD321-998F-4D69-ADB5-21AF7762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194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C"/>
                </a:solidFill>
              </a:defRPr>
            </a:pPr>
            <a:r>
              <a:rPr sz="1875" b="1">
                <a:solidFill>
                  <a:srgbClr val="071A3C"/>
                </a:solidFill>
              </a:rPr>
              <a:t>%1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07899-01F7-4346-B416-93B922D9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B14DEB-0FB1-4134-985D-44714015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6230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4. seviye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122E6-28DC-4546-84E2-20C06E59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194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C"/>
                </a:solidFill>
              </a:defRPr>
            </a:pPr>
            <a:r>
              <a:rPr sz="1875" b="1">
                <a:solidFill>
                  <a:srgbClr val="071A3C"/>
                </a:solidFill>
              </a:rPr>
              <a:t>%0,75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42E08-2F2A-430F-AB7D-CFF1242D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4800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30365-20E0-444E-98E3-51E7DF4F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6230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5. seviye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657F7-2CE6-46F8-98DA-35236E90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194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C"/>
                </a:solidFill>
              </a:defRPr>
            </a:pPr>
            <a:r>
              <a:rPr sz="1875" b="1">
                <a:solidFill>
                  <a:srgbClr val="071A3C"/>
                </a:solidFill>
              </a:rPr>
              <a:t>%0,5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9335B2-65F1-4135-819F-794E93D4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1B561-F99A-4350-9FE4-5D0EF88D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6. seviye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8C5812-39F7-4A9D-9A40-E7682FBB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C"/>
                </a:solidFill>
              </a:defRPr>
            </a:pPr>
            <a:r>
              <a:rPr sz="1875" b="1">
                <a:solidFill>
                  <a:srgbClr val="071A3C"/>
                </a:solidFill>
              </a:rPr>
              <a:t>%0,5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8E65E5-E237-4E68-93D1-BAF4E2A7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5AEE40-FE4A-49F0-A170-C50BA323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862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7. seviye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C86115-2BC1-49C5-A86C-CAD9F5F4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4342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C"/>
                </a:solidFill>
              </a:defRPr>
            </a:pPr>
            <a:r>
              <a:rPr sz="1875" b="1">
                <a:solidFill>
                  <a:srgbClr val="071A3C"/>
                </a:solidFill>
              </a:rPr>
              <a:t>%0,5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8BD72C-AD7C-409C-82E9-727E5206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7195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0D7B78-3BFF-4D3D-9984-CBB8BCC5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8. seviye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647791-EEDF-4503-94DE-FD7AA281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4342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C"/>
                </a:solidFill>
              </a:defRPr>
            </a:pPr>
            <a:r>
              <a:rPr sz="1875" b="1">
                <a:solidFill>
                  <a:srgbClr val="071A3C"/>
                </a:solidFill>
              </a:rPr>
              <a:t>%0,25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D56051-3F44-42FB-A04C-97702C9F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64B25B-EBA1-4911-85FB-B16E5E47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862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9. seviye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CB8F57-7764-4AD8-A835-E5B34511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4342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C"/>
                </a:solidFill>
              </a:defRPr>
            </a:pPr>
            <a:r>
              <a:rPr sz="1875" b="1">
                <a:solidFill>
                  <a:srgbClr val="071A3C"/>
                </a:solidFill>
              </a:rPr>
              <a:t>%0,25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C63314-C7A9-42A6-B0EA-A8A68D73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7195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C296CB-7645-4B95-89B9-D9054FCF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862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10. seviye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940C01-D040-4317-87C5-3EAD7C06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4342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C"/>
                </a:solidFill>
              </a:defRPr>
            </a:pPr>
            <a:r>
              <a:rPr sz="1875" b="1">
                <a:solidFill>
                  <a:srgbClr val="071A3C"/>
                </a:solidFill>
              </a:rPr>
              <a:t>%0,25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8638F9-7FD3-4B61-8A2A-1C72F9DE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721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9F62"/>
                </a:solidFill>
              </a:defRPr>
            </a:pPr>
            <a:r>
              <a:rPr sz="1800" b="1">
                <a:solidFill>
                  <a:srgbClr val="0F9F62"/>
                </a:solidFill>
              </a:rPr>
              <a:t>%10 toplam ağ dağıtımı • %90 şirket payı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032A86-293C-4B5C-AA60-D0F19A3D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11268636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9013D5-A312-4E92-82AB-FE957B9C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KAZANÇ GÜVENLIĞI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F363D-4E64-4DCD-B10D-4A184070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Bir ürün bonusunun oluşması için tüm kapılar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8C833-EB4C-4811-82F4-4525611E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5A4ED-FFF7-4484-8DB0-E057C6E3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933D7-B042-43C2-AF3B-AD8105B4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16922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71A3C"/>
          </a:solidFill>
          <a:ln xmlns:a="http://schemas.openxmlformats.org/drawingml/2006/main" w="9525">
            <a:solidFill>
              <a:srgbClr val="071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A92CE-AE42-41C2-8126-1BF67FF3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B8E8"/>
                </a:solidFill>
              </a:defRPr>
            </a:pPr>
            <a:r>
              <a:rPr sz="900" b="1">
                <a:solidFill>
                  <a:srgbClr val="34B8E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085CB-C9E6-4129-8A56-7F4B828F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387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Kayıtlı kullanıcı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94503-BC54-4BC5-820C-B9957CCE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625" y="20383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7F90F-E83A-45DB-BC05-B9A48422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125" y="1714500"/>
            <a:ext cx="16922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D5DD9-B266-4B3E-A0E9-5A3499D4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525" y="1828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BA07D-4835-4875-92DF-76644121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525" y="2095500"/>
            <a:ext cx="1387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Ürün siparişi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227F2-7507-41DB-AAA2-98E1E10D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20383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2DF7F-7FBC-492D-BFA6-409B210C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714500"/>
            <a:ext cx="16922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10D7F-F3DB-4908-AD23-3DAAF2B4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1828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FE4BA-727D-44FC-96B5-1501BE47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095500"/>
            <a:ext cx="1387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Ödeme: ödendi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6133D-C9D8-4D83-97C8-3DF272B1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383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469A38-20D5-4554-92E5-DF56307F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14500"/>
            <a:ext cx="16922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5ED35-869C-4366-94BB-B4F28728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28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9F219-189C-4EB3-B0B4-946DD091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95500"/>
            <a:ext cx="1387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Durum: tamamlandı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2468B-36E6-44BE-A092-E92236A2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0383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519F01-3F36-4CBD-9996-EE238687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1714500"/>
            <a:ext cx="16922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31CEC2-CB56-4BCB-BAA3-40A3ACF6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1828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B3C257-FA1D-4757-9926-3D45315E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095500"/>
            <a:ext cx="1387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Aktif lisanslı üst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7CFCA8-5B35-4B08-9676-A732C485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20383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1F2199-E1CB-46C9-A101-F6705295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425" y="1714500"/>
            <a:ext cx="16922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9896A4-83BF-4FC5-99D7-C9696940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825" y="1828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D655D9-B8D0-4FB4-8A95-482BCF5E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825" y="2095500"/>
            <a:ext cx="1387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Kariyer derinliği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C88C3C-35BD-40DD-A880-34098C75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DC0BD9-32BC-4FCC-9D04-07CD5D35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10172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Eğitim ve lisans siparişleri ürün ağ bonusuna dahil edilmez.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7DC9CA-9415-4D36-9752-BDCEE44E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2A41E1-347D-4C28-A25B-43F35ECC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10172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Aynı sipariş için tekrar ödeme yapılmaz; ledger kaydı idempotency anahtarı görevi görür.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FB71B7-B239-45C5-BF88-08D9B820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E00925-3946-4D58-877F-4BE5820D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0172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İptal veya iade halinde oluşmuş kazançlar ters kayıtla geri alınır.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B5B125-6E72-4D46-B239-17F1AA2C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BDEC23-FF5D-44E8-B550-ACE712A3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10172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Hak kazanamayan kariyer seviyesi atlanır; oran başka üyeye taşınmaz.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F9236D-3838-4B4C-9763-9977A33D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13297172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43B6B0-DBE0-43D4-928E-6D14C7D5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SIPARIŞ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F53CC-63D5-4E0A-AA22-FC249E71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Operasyon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6A362-D231-478D-9C0A-EBA2664F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8F5F3-E97C-44A7-8B42-94024191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CEBF1-599F-4896-9908-58120CDC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2319338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71A3C"/>
          </a:solidFill>
          <a:ln xmlns:a="http://schemas.openxmlformats.org/drawingml/2006/main" w="9525">
            <a:solidFill>
              <a:srgbClr val="071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BB5F6-56DB-4F0C-927F-D5D0F27D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76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B8E8"/>
                </a:solidFill>
              </a:defRPr>
            </a:pPr>
            <a:r>
              <a:rPr sz="900" b="1">
                <a:solidFill>
                  <a:srgbClr val="34B8E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E71BB-B5F7-4DDC-9998-CF9F1874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43125"/>
            <a:ext cx="201453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Bekliyor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DD745-0974-45D1-BE19-DF235BE1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20859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1150C-3503-4743-AAC3-1727FD4A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1762125"/>
            <a:ext cx="2319338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0194A-B4EC-4725-B9D9-51F799A8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876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A50C2-719C-4D6E-AAE0-3CC89FBF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143125"/>
            <a:ext cx="201453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Hazırlanıyor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0288D-A4BF-4F5F-8AF0-8E37642F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859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85958-DBB3-45C8-A97A-F02F2B39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762125"/>
            <a:ext cx="2319338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C1D1C-E4A4-424A-A2AE-4FA02C46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76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EA5EE-52F5-4C01-AD2A-A58BA25A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43125"/>
            <a:ext cx="201453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Kargolandı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3D531-B846-4306-9A56-05CABB36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20859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4228D-082A-481C-A017-46F9B8E8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1762125"/>
            <a:ext cx="2319338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FAFC4-F628-405C-8F46-C308AD95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1876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2CB6C-9DA5-42A8-A627-796FF167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2143125"/>
            <a:ext cx="201453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Tamamlandı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9DCF0-D000-4773-BD92-68ED4DC5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47B9"/>
                </a:solidFill>
              </a:defRPr>
            </a:pPr>
            <a:r>
              <a:rPr sz="1050" b="1">
                <a:solidFill>
                  <a:srgbClr val="1547B9"/>
                </a:solidFill>
              </a:rPr>
              <a:t>Ödeme durumu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C33EA-2F98-411C-9898-4AD19357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0"/>
            <a:ext cx="1333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F3F6F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68D94-8CFF-4E17-B876-2E079C9B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26176"/>
                </a:solidFill>
              </a:defRPr>
            </a:pPr>
            <a:r>
              <a:rPr sz="975" b="1">
                <a:solidFill>
                  <a:srgbClr val="526176"/>
                </a:solidFill>
              </a:rPr>
              <a:t>Bekliyor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C47AE8-8FC8-4C69-8F00-714D0BB7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10000"/>
            <a:ext cx="1333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9525">
            <a:solidFill>
              <a:srgbClr val="E9F8F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BC2610-1DF2-44E3-8BF4-242E3C49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829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9F62"/>
                </a:solidFill>
              </a:defRPr>
            </a:pPr>
            <a:r>
              <a:rPr sz="975" b="1">
                <a:solidFill>
                  <a:srgbClr val="0F9F62"/>
                </a:solidFill>
              </a:rPr>
              <a:t>Ödendi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E7A924-C793-4F58-A586-B7B5C844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0000"/>
            <a:ext cx="1333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F3F6F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7485B6-D0C0-429F-8844-65CEC138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29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26176"/>
                </a:solidFill>
              </a:defRPr>
            </a:pPr>
            <a:r>
              <a:rPr sz="975" b="1">
                <a:solidFill>
                  <a:srgbClr val="526176"/>
                </a:solidFill>
              </a:rPr>
              <a:t>Başarısız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9A956C-3F9F-4F5F-9061-F797B600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10000"/>
            <a:ext cx="1333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F3F6F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014516-888F-4564-A995-4546624B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29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26176"/>
                </a:solidFill>
              </a:defRPr>
            </a:pPr>
            <a:r>
              <a:rPr sz="975" b="1">
                <a:solidFill>
                  <a:srgbClr val="526176"/>
                </a:solidFill>
              </a:rPr>
              <a:t>İade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713BFC-2E75-43F5-B69C-2EA94E0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535"/>
                </a:solidFill>
              </a:defRPr>
            </a:pPr>
            <a:r>
              <a:rPr sz="1050" b="1">
                <a:solidFill>
                  <a:srgbClr val="C73535"/>
                </a:solidFill>
              </a:rPr>
              <a:t>İptal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E883FE-A47A-4B56-8310-F53AB206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4000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3C"/>
                </a:solidFill>
              </a:defRPr>
            </a:pPr>
            <a:r>
              <a:rPr sz="1350" b="1">
                <a:solidFill>
                  <a:srgbClr val="071A3C"/>
                </a:solidFill>
              </a:rPr>
              <a:t>İptal edilen siparişte rezerve stok geri yüklenir; ürün bonusu oluşmuşsa ters işlem uygulanır.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1EC800-8E76-48DC-8571-63894AF5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76"/>
                </a:solidFill>
              </a:defRPr>
            </a:pPr>
            <a:r>
              <a:rPr sz="1425" b="0">
                <a:solidFill>
                  <a:srgbClr val="526176"/>
                </a:solidFill>
              </a:rPr>
              <a:t>Sipariş ve ödeme durumları birbirinden ayrıdır; finans sözleşmesi her alanı doğrulanmış değerlerle günceller.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6A2AE6-A177-47CF-A50F-A3370C1D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10322540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BEEB5-E4DC-4CC9-AEBA-C7100B63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ÖDEME &amp; FATURA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ADEFC-2059-4F8D-8512-768BE73A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Finans merkezindeki sözleşme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D8075-8AD5-4AC6-B57D-A2014086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46507-7062-4ED9-A8DA-C985A831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93593-1708-44F5-A379-3AC068CE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7B9"/>
                </a:solidFill>
              </a:defRPr>
            </a:pPr>
            <a:r>
              <a:rPr sz="1650" b="1">
                <a:solidFill>
                  <a:srgbClr val="1547B9"/>
                </a:solidFill>
              </a:rPr>
              <a:t>Ödeme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1DA99-B9D1-4B73-9B41-9E23DB06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050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47B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93AB9-BDA1-476F-B674-35015680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66875"/>
            <a:ext cx="771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pending • paid • failed • refunded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63F33-2F56-466A-9C2F-ED75A2E3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670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C"/>
                </a:solidFill>
              </a:defRPr>
            </a:pPr>
            <a:r>
              <a:rPr sz="1650" b="1">
                <a:solidFill>
                  <a:srgbClr val="071A3C"/>
                </a:solidFill>
              </a:rPr>
              <a:t>Sipariş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D08A8-0676-43EB-9104-68542E47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051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1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E8E6F-36BE-4D27-8C58-54653523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67025"/>
            <a:ext cx="771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pending • preparing • shipped • completed • cancelled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58F17-FB76-4A23-BDD8-26087F7A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6717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9F62"/>
                </a:solidFill>
              </a:defRPr>
            </a:pPr>
            <a:r>
              <a:rPr sz="1650" b="1">
                <a:solidFill>
                  <a:srgbClr val="0F9F62"/>
                </a:solidFill>
              </a:rPr>
              <a:t>Fatura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10007-6E72-4FFA-8833-45E7348A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053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9F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B9134-05E3-4DDF-8A53-981FECA2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67175"/>
            <a:ext cx="771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pending • issued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6D94C-3CC6-4D1E-BAC2-CC5C90D9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1201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2820B-127C-479C-85EA-45CDF23F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95925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3C"/>
                </a:solidFill>
              </a:defRPr>
            </a:pPr>
            <a:r>
              <a:rPr sz="1350" b="1">
                <a:solidFill>
                  <a:srgbClr val="071A3C"/>
                </a:solidFill>
              </a:rPr>
              <a:t>Fatura numarası ve notu saklanır; issued durumunda kesim zamanı atanır, geri alındığında zaman temizlenir.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47B8F-749B-4D99-AE25-276630E9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9310452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6EEF13-4B65-4299-9CFF-93852CB3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FINANS MERKEZI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FAF75-123A-42F7-849D-B3A7050F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Admin görünümündeki temel göstergeler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DB113-923C-4E9E-86EE-D1AAC68C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1BE67-6918-44F9-A508-E08E15FE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1DAAF-4167-4879-AAF1-53F93C66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47B9"/>
                </a:solidFill>
              </a:defRPr>
            </a:pPr>
            <a:r>
              <a:rPr sz="1800" b="1">
                <a:solidFill>
                  <a:srgbClr val="1547B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3EAA4-5D14-489C-9AAC-DE3B0998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2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3EFB7-D314-4D0B-AC0E-21997ECE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28875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3C"/>
                </a:solidFill>
              </a:defRPr>
            </a:pPr>
            <a:r>
              <a:rPr sz="1425" b="1">
                <a:solidFill>
                  <a:srgbClr val="071A3C"/>
                </a:solidFill>
              </a:rPr>
              <a:t>Ödenen satış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9917C-F04E-44B9-82CE-C0947347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0037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paid ve iptal değil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229BE-F343-4DDD-ABE7-F1B03344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6687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47B9"/>
                </a:solidFill>
              </a:defRPr>
            </a:pPr>
            <a:r>
              <a:rPr sz="1800" b="1">
                <a:solidFill>
                  <a:srgbClr val="1547B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864CD-5DB2-48D6-B7C8-1BB35268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90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2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88DCA-818D-4F0A-8E19-6C19AEE7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28875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3C"/>
                </a:solidFill>
              </a:defRPr>
            </a:pPr>
            <a:r>
              <a:rPr sz="1425" b="1">
                <a:solidFill>
                  <a:srgbClr val="071A3C"/>
                </a:solidFill>
              </a:rPr>
              <a:t>Bekleyen satış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31BF4-D7F7-464C-85F1-112EB51E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0037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pending ve iptal değil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27AA1-3FB1-4046-9EBE-3C4F075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6687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47B9"/>
                </a:solidFill>
              </a:defRPr>
            </a:pPr>
            <a:r>
              <a:rPr sz="1800" b="1">
                <a:solidFill>
                  <a:srgbClr val="1547B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D0CB0-3F82-4568-8B08-6555741D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90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2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2049B-5D38-4D3C-A6CD-F5BAFCA1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28875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3C"/>
                </a:solidFill>
              </a:defRPr>
            </a:pPr>
            <a:r>
              <a:rPr sz="1425" b="1">
                <a:solidFill>
                  <a:srgbClr val="071A3C"/>
                </a:solidFill>
              </a:rPr>
              <a:t>Fatura bekleyen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A9C25A-5EED-414C-A9B7-A187A737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0037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ödenmiş ürün + issued değil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5B6AF6-457A-4C30-883D-B14BD70C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47B9"/>
                </a:solidFill>
              </a:defRPr>
            </a:pPr>
            <a:r>
              <a:rPr sz="1800" b="1">
                <a:solidFill>
                  <a:srgbClr val="1547B9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73130-560C-4DC8-90EC-77AA64A6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2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F812E2-268A-47DA-89FC-DB0AAA17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3C"/>
                </a:solidFill>
              </a:defRPr>
            </a:pPr>
            <a:r>
              <a:rPr sz="1425" b="1">
                <a:solidFill>
                  <a:srgbClr val="071A3C"/>
                </a:solidFill>
              </a:rPr>
              <a:t>Toplam kazanç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2E588E-3954-45B4-AF80-3D88725F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ledger toplamı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0B25CD-14C3-429A-BD57-A0123D08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6687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47B9"/>
                </a:solidFill>
              </a:defRPr>
            </a:pPr>
            <a:r>
              <a:rPr sz="1800" b="1">
                <a:solidFill>
                  <a:srgbClr val="1547B9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64792A-6F3D-49EC-BDEB-7FC54C0B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2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7340D-76DF-4349-9B45-D1381362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28875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A3C"/>
                </a:solidFill>
              </a:defRPr>
            </a:pPr>
            <a:r>
              <a:rPr sz="1425" b="1">
                <a:solidFill>
                  <a:srgbClr val="071A3C"/>
                </a:solidFill>
              </a:rPr>
              <a:t>Sipariş sayısı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40BA5A-1742-4BD9-9129-5B9219DD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0037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finans kapsamındaki kayıtlar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D9BA9-4294-4709-ABB6-E6B70434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47B9"/>
                </a:solidFill>
              </a:defRPr>
            </a:pPr>
            <a:r>
              <a:rPr sz="1050" b="1">
                <a:solidFill>
                  <a:srgbClr val="1547B9"/>
                </a:solidFill>
              </a:rPr>
              <a:t>Backend sözleşmesi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4D89CE-79CF-4CF3-9688-8CD2454A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C"/>
                </a:solidFill>
              </a:defRPr>
            </a:pPr>
            <a:r>
              <a:rPr sz="1800" b="1">
                <a:solidFill>
                  <a:srgbClr val="071A3C"/>
                </a:solidFill>
              </a:rPr>
              <a:t>GET /admin/finance/overview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152073-045C-453E-8FAB-CD226768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625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C"/>
                </a:solidFill>
              </a:defRPr>
            </a:pPr>
            <a:r>
              <a:rPr sz="1800" b="1">
                <a:solidFill>
                  <a:srgbClr val="071A3C"/>
                </a:solidFill>
              </a:rPr>
              <a:t>PATCH /admin/orders/:id/finance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7F5FD6-1CD0-4A11-ADC1-0891F8D1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Özet + siparişler + kullanıcı kazançları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4559DC-2B4D-4EE6-ADF8-E6AD3146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578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Ödeme, sipariş ve fatura güncellemesi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A32A49-F726-45FE-928D-3FE7CD68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18994337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B23129-9741-4FBD-906B-71AF1DE7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STOK &amp; FATURA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49C51-09E4-420D-A26C-0326F4C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Sipariş verisinin tutarlılık kuralları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45B1B-2583-46E5-89DB-4389667D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47245-0AA5-4658-A6C0-0156E54B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FBA78-796E-4B7D-AFB3-CF029A90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47B9"/>
                </a:solidFill>
              </a:defRPr>
            </a:pPr>
            <a:r>
              <a:rPr sz="1875" b="1">
                <a:solidFill>
                  <a:srgbClr val="1547B9"/>
                </a:solidFill>
              </a:rPr>
              <a:t>Stok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5DD70-3530-47CD-AD9C-0A749F4D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17671-B57A-4D94-ADA3-5DE33BDB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552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Finite stok sipariş oluşturulurken atomik olarak azalır.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BB9D2-A1E8-4DA3-859F-30B39195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787E8-1C3D-4A85-B86F-BA83DEAC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4552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Yetersiz stokta sipariş durdurulur.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53427-7E14-40F5-A954-DF8CA2D3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48F7C-5E8D-4123-964F-D5E9CB22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4552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Eş zamanlı değişiklikte kontrollü tekrar yapılır.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34900-8150-478C-8C71-8E482FD4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7E30D-EE6E-4505-A8CE-298AD808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4552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İptalde yalnızca rezerve edilen miktar geri eklenir.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EA8BC-3CF3-4395-83F6-D28A071F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71625"/>
            <a:ext cx="9525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47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C3142-148B-4606-8AFD-C2C54F77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9F62"/>
                </a:solidFill>
              </a:defRPr>
            </a:pPr>
            <a:r>
              <a:rPr sz="1875" b="1">
                <a:solidFill>
                  <a:srgbClr val="0F9F62"/>
                </a:solidFill>
              </a:rPr>
              <a:t>Fatura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80F97-D5CA-4A06-A7F8-5C32DA19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81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E03206-5E02-4CA4-97F1-C17E9005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95500"/>
            <a:ext cx="44100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“Sınırsız” ürünlerde stok değişmez.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9E0013-72F2-4360-ABB3-CD85D539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3D3DC5-597A-42B4-96A2-86453484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43200"/>
            <a:ext cx="44100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Fatura yalnızca ürün siparişleri için izlenir.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210F4-C5E5-46B8-BFAF-15098D9B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76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1B1714-CF63-407D-9DBE-E20C32E3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90900"/>
            <a:ext cx="44100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Ödenen ama faturası kesilmemiş sipariş sayılır.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3F8712-4D33-4CC1-8A71-D80BF805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24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D8E01E-724F-46F8-9D6E-32B10378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38600"/>
            <a:ext cx="44100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Fatura numarası, notu ve kesim tarihi saklanır.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F252A0-1D06-4D95-88B5-F6ADAD2F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17049641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E7DC90-80E0-4D93-9D1A-DAFA4D16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CÜZDAN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0C439-815C-4CC7-91D1-CE236558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Kazançtan çekim talebine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A3A93-8E69-42CD-B37D-5722B3FF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E047D-CD8B-4AFA-8ACA-D47454F2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D4F36-35A3-4ED7-98A0-2DA8D5DB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204216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71A3C"/>
          </a:solidFill>
          <a:ln xmlns:a="http://schemas.openxmlformats.org/drawingml/2006/main" w="9525">
            <a:solidFill>
              <a:srgbClr val="071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CC9CB-5367-48F8-8FDF-AF660E75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B8E8"/>
                </a:solidFill>
              </a:defRPr>
            </a:pPr>
            <a:r>
              <a:rPr sz="900" b="1">
                <a:solidFill>
                  <a:srgbClr val="34B8E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FF170-A3C7-4479-B4F2-922F14C7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7373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Hak ediş oluşur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E9295-3B04-4150-B62E-0AF2A3DF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" y="20859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26184-30D8-4BBA-AAD8-DD6004A6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1762125"/>
            <a:ext cx="204216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2AB36-FC5C-495E-9378-F52A4913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10" y="1876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31D3B-19C9-4267-B80D-77546B15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10" y="2143125"/>
            <a:ext cx="17373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Ledger kaydı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BDF74-4651-407F-8D31-1885E26C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20859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67763-67A0-460E-8ED9-84497BC0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762125"/>
            <a:ext cx="204216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5C6BA-3306-4A07-A72E-DDB1D0EB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1876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4903B-34A3-4DC3-88A5-50340C78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2143125"/>
            <a:ext cx="17373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Bakiye artar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CEA0C-DD13-4673-B163-6AE8E0DE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0" y="20859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93A7B-D49D-48D1-8184-8DA0393C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1762125"/>
            <a:ext cx="204216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B1139-FB4A-40AC-B253-5D8FB0A4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1876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252E5D-A2E6-4E4C-80EE-BFA050CB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2143125"/>
            <a:ext cx="17373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Kullanıcı talep açar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6006DE-EE35-4C87-8D2C-F2E0C9EA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20859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7B9"/>
                </a:solidFill>
              </a:defRPr>
            </a:pPr>
            <a:r>
              <a:rPr sz="1500" b="1">
                <a:solidFill>
                  <a:srgbClr val="1547B9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8451BB-DA2A-4AA6-8A50-D504699C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1762125"/>
            <a:ext cx="204216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CACE04-6619-4426-9835-CF6FCB3D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1876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7B9"/>
                </a:solidFill>
              </a:defRPr>
            </a:pPr>
            <a:r>
              <a:rPr sz="900" b="1">
                <a:solidFill>
                  <a:srgbClr val="1547B9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A7E748-2B90-4FD7-87C9-2727B3CD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2143125"/>
            <a:ext cx="17373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Admin sonuçlandırır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D5757F-7445-44EF-9CE9-87BA605C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4857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71A3C"/>
          </a:solidFill>
          <a:ln xmlns:a="http://schemas.openxmlformats.org/drawingml/2006/main" w="9525">
            <a:solidFill>
              <a:srgbClr val="071A3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DFE304-DAEF-437F-96CE-DE8C188C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4B8E8"/>
                </a:solidFill>
              </a:defRPr>
            </a:pPr>
            <a:r>
              <a:rPr sz="2925" b="1">
                <a:solidFill>
                  <a:srgbClr val="34B8E8"/>
                </a:solidFill>
              </a:rPr>
              <a:t>5.000 TL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81C530-A03D-4B15-9BB8-DF3C6E20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Minimum çekim talebi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09E299-672F-4E08-BD95-5443E0C2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58864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BEBA35-7B20-4CEA-ABE3-5A2F3C79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24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499148-02AC-428E-8D4F-706C13AD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Bakiye minimumun altında ise form pasif.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F1397-E10E-44EB-97A7-EE164549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81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88D25D-605E-4D8E-95EA-861A3EBE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Aynı anda yalnızca bir bekleyen talep.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6B8B92-8DD3-4B09-A071-A005B7E6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38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47B9"/>
          </a:solidFill>
          <a:ln xmlns:a="http://schemas.openxmlformats.org/drawingml/2006/main" w="0">
            <a:solidFill>
              <a:srgbClr val="1547B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24D6B1-4F1C-4277-8876-E918E72D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5295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Geçmiş talepler kullanıcıya gösterilir.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0966A9-FC4D-4EE1-8E1E-C8A93F7C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721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47B9"/>
                </a:solidFill>
              </a:defRPr>
            </a:pPr>
            <a:r>
              <a:rPr sz="1350" b="1">
                <a:solidFill>
                  <a:srgbClr val="1547B9"/>
                </a:solidFill>
              </a:rPr>
              <a:t>Kazançlarım ekranı 5 saniyelik aralıklarla yenilenerek yeni ödemeleri görünür kılar.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AA1120-0F1F-4590-AF75-4FBABAC4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203388361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93209D-7240-4E7D-AC01-372CAA39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KARIYER HAVUZLARI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0F8AD-3BC7-4B29-84E5-26309CFC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Şirket kârından ek paylaşım katmanı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6BB49-F794-4AA0-910F-E33156C7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53441-2489-438F-8460-82850D43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09B19-86DC-4CD4-95E5-B64995E5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177D2-8016-46F1-9815-0958FA44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C"/>
                </a:solidFill>
              </a:defRPr>
            </a:pPr>
            <a:r>
              <a:rPr sz="1575" b="1">
                <a:solidFill>
                  <a:srgbClr val="071A3C"/>
                </a:solidFill>
              </a:rPr>
              <a:t>Platin havuzu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F6C7A-46B0-4459-AC7E-CC3196A6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47B9"/>
                </a:solidFill>
              </a:defRPr>
            </a:pPr>
            <a:r>
              <a:rPr sz="3150" b="1">
                <a:solidFill>
                  <a:srgbClr val="1547B9"/>
                </a:solidFill>
              </a:rPr>
              <a:t>%2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CD3FC-6BB2-487A-9514-B976B829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EDD26-5D6C-4AC3-8D86-1C2A0C55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6"/>
                </a:solidFill>
              </a:defRPr>
            </a:pPr>
            <a:r>
              <a:rPr sz="1275" b="0">
                <a:solidFill>
                  <a:srgbClr val="526176"/>
                </a:solidFill>
              </a:rPr>
              <a:t>Platin ve üzeri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389F0-0217-4712-B99B-E373433A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1450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71A3C"/>
          </a:solidFill>
          <a:ln xmlns:a="http://schemas.openxmlformats.org/drawingml/2006/main" w="9525">
            <a:solidFill>
              <a:srgbClr val="071A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3CF6B-3C4D-4838-8045-1CF1C4C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002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Elmas havuzu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C1FAB-E154-45AC-BDA4-7917D9EE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14625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4B8E8"/>
                </a:solidFill>
              </a:defRPr>
            </a:pPr>
            <a:r>
              <a:rPr sz="3150" b="1">
                <a:solidFill>
                  <a:srgbClr val="34B8E8"/>
                </a:solidFill>
              </a:rPr>
              <a:t>%10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B2D49-FAEE-4F41-B795-60A3DEAF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38550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90EDB-C64D-42BA-978D-BA972FF3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05250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Elmas ve üzeri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54E98-4C09-4678-A59A-D3AA90CB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54978-3AEE-4728-9259-4D43ED0F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3C"/>
                </a:solidFill>
              </a:defRPr>
            </a:pPr>
            <a:r>
              <a:rPr sz="1575" b="1">
                <a:solidFill>
                  <a:srgbClr val="071A3C"/>
                </a:solidFill>
              </a:rPr>
              <a:t>Sözleşmeli Elmas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FB483C-194D-4FBB-B3AE-FA0C267F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14625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47B9"/>
                </a:solidFill>
              </a:defRPr>
            </a:pPr>
            <a:r>
              <a:rPr sz="3150" b="1">
                <a:solidFill>
                  <a:srgbClr val="1547B9"/>
                </a:solidFill>
              </a:rPr>
              <a:t>%2,5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075B12-09BA-4563-B2D8-85ABDD93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9BF52-B06F-449B-9FF1-758694B4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6"/>
                </a:solidFill>
              </a:defRPr>
            </a:pPr>
            <a:r>
              <a:rPr sz="1275" b="0">
                <a:solidFill>
                  <a:srgbClr val="526176"/>
                </a:solidFill>
              </a:rPr>
              <a:t>Sözleşmeli Elmas üyeler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E1D805-DDCD-4A7E-BB37-1BCFE584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A3C"/>
                </a:solidFill>
              </a:defRPr>
            </a:pPr>
            <a:r>
              <a:rPr sz="1575" b="1">
                <a:solidFill>
                  <a:srgbClr val="071A3C"/>
                </a:solidFill>
              </a:rPr>
              <a:t>Havuz tutarı, ilgili kariyerdeki aktif lisanslı üyeler arasında eşit paylaştırılır.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ABDC0D-5E3E-413B-B092-F8B14A3E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19021700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565231-2F5A-4E28-979D-2E395DD0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ADMIN OPERASYONU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03461-2D69-42F5-A271-C0AF5D98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Tek panelden günlük yönetim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EC361-39C2-44DD-80B4-D55FA31E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BAB19-786A-420A-96C1-EA521CE7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A65EF-C1E2-471C-9177-01C1327B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47B9"/>
                </a:solidFill>
              </a:defRPr>
            </a:pPr>
            <a:r>
              <a:rPr sz="1350" b="1">
                <a:solidFill>
                  <a:srgbClr val="1547B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661A5-DAD0-43F8-BE10-7B740281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192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C"/>
                </a:solidFill>
              </a:defRPr>
            </a:pPr>
            <a:r>
              <a:rPr sz="1650" b="1">
                <a:solidFill>
                  <a:srgbClr val="071A3C"/>
                </a:solidFill>
              </a:rPr>
              <a:t>Ürün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E33F7-9D22-4F7D-9EB1-4F960411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431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B9F65-6BF7-4F04-A828-68FAE871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Ekle, düzenle, aktif/pasif, stok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09F06-CD5C-4393-BC69-FCD70FE7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192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47B9"/>
                </a:solidFill>
              </a:defRPr>
            </a:pPr>
            <a:r>
              <a:rPr sz="1350" b="1">
                <a:solidFill>
                  <a:srgbClr val="1547B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378F7-D820-4006-8736-D99753A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6192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C"/>
                </a:solidFill>
              </a:defRPr>
            </a:pPr>
            <a:r>
              <a:rPr sz="1650" b="1">
                <a:solidFill>
                  <a:srgbClr val="071A3C"/>
                </a:solidFill>
              </a:rPr>
              <a:t>Sipariş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10580-942D-40FE-A7CF-6107115C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431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CC21A-15F2-4FC6-834E-2C523B94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3431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Durum, ödeme, kargo, iptal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FB09A-4C62-47F1-9761-43E52C30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47B9"/>
                </a:solidFill>
              </a:defRPr>
            </a:pPr>
            <a:r>
              <a:rPr sz="1350" b="1">
                <a:solidFill>
                  <a:srgbClr val="1547B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909BD-0775-413F-941A-B5C10AB4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192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C"/>
                </a:solidFill>
              </a:defRPr>
            </a:pPr>
            <a:r>
              <a:rPr sz="1650" b="1">
                <a:solidFill>
                  <a:srgbClr val="071A3C"/>
                </a:solidFill>
              </a:rPr>
              <a:t>Finans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FFF85-99B1-465A-92BB-9A0353A4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431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38CDF-D7D2-4F51-BF68-4E4323F8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Özet, kazanç, fatura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55AF9B-0FF4-47AC-8164-8EA33E45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47B9"/>
                </a:solidFill>
              </a:defRPr>
            </a:pPr>
            <a:r>
              <a:rPr sz="1350" b="1">
                <a:solidFill>
                  <a:srgbClr val="1547B9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6B1C1-19EE-4B08-8BD9-60495ECB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C"/>
                </a:solidFill>
              </a:defRPr>
            </a:pPr>
            <a:r>
              <a:rPr sz="1650" b="1">
                <a:solidFill>
                  <a:srgbClr val="071A3C"/>
                </a:solidFill>
              </a:rPr>
              <a:t>Kullanıcı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23170-F94A-4481-B566-17F5ACF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528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E5C6F2-A413-4A82-8CF0-383A59C3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529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Aktiflik, lisans, rol, kariyer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DB4EE-742E-43C6-A665-D494F98C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290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47B9"/>
                </a:solidFill>
              </a:defRPr>
            </a:pPr>
            <a:r>
              <a:rPr sz="1350" b="1">
                <a:solidFill>
                  <a:srgbClr val="1547B9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952FE-B86B-493B-9642-94F79033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42900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C"/>
                </a:solidFill>
              </a:defRPr>
            </a:pPr>
            <a:r>
              <a:rPr sz="1650" b="1">
                <a:solidFill>
                  <a:srgbClr val="071A3C"/>
                </a:solidFill>
              </a:rPr>
              <a:t>Çekim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F0FF7C-441F-4CEE-A11A-FE7E73D0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528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2BD1B8-F9D9-47B0-B2B3-2082BF64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529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Bekleyen talepleri sonuçlandır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C6AD44-0F27-424E-AB2B-986D3AF9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290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47B9"/>
                </a:solidFill>
              </a:defRPr>
            </a:pPr>
            <a:r>
              <a:rPr sz="1350" b="1">
                <a:solidFill>
                  <a:srgbClr val="1547B9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974CC0-B7FD-45A9-A673-FBA75559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A3C"/>
                </a:solidFill>
              </a:defRPr>
            </a:pPr>
            <a:r>
              <a:rPr sz="1650" b="1">
                <a:solidFill>
                  <a:srgbClr val="071A3C"/>
                </a:solidFill>
              </a:rPr>
              <a:t>Sistem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4F6120-D727-4382-B5FB-0853A22D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528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230211-FE38-4C08-B210-C08F0792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529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6"/>
                </a:solidFill>
              </a:defRPr>
            </a:pPr>
            <a:r>
              <a:rPr sz="1200" b="0">
                <a:solidFill>
                  <a:srgbClr val="526176"/>
                </a:solidFill>
              </a:rPr>
              <a:t>Duyuru, ayar ve denetim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961785-A8AB-4063-BCBF-E4D55FAC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3535"/>
                </a:solidFill>
              </a:defRPr>
            </a:pPr>
            <a:r>
              <a:rPr sz="1500" b="1">
                <a:solidFill>
                  <a:srgbClr val="C73535"/>
                </a:solidFill>
              </a:rPr>
              <a:t>Kritik prensip: finansal alanlar serbest metin değil, doğrulanan durum sözleşmeleriyle güncellenir.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1635D5-8EC0-4EE9-85EB-53AA1939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107606081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FE381-7A71-4939-9398-B960A07A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MOBIL DENEYIM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D7924-05DD-4335-8E8E-91D80D29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Küçük ekranda ana görevleri koruyan yapı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B77D9-8FA5-4886-AD9D-7FA11BEB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50087-0AC3-40FD-A61F-D1E9A42E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61CBF-912F-48DD-B4CA-1E020192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7B9"/>
                </a:solidFill>
              </a:defRPr>
            </a:pPr>
            <a:r>
              <a:rPr sz="1650" b="1">
                <a:solidFill>
                  <a:srgbClr val="1547B9"/>
                </a:solidFill>
              </a:rPr>
              <a:t>Gezinme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CFB8C-F652-4E6E-BBD7-6DA4B947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716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A3C"/>
                </a:solidFill>
              </a:defRPr>
            </a:pPr>
            <a:r>
              <a:rPr sz="1350" b="0">
                <a:solidFill>
                  <a:srgbClr val="071A3C"/>
                </a:solidFill>
              </a:rPr>
              <a:t>Mobil menü; dil, sepet ve oturum erişimi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76574-3490-4482-9640-5E759820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955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C84FC-8B22-40DE-A143-07765B24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384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7B9"/>
                </a:solidFill>
              </a:defRPr>
            </a:pPr>
            <a:r>
              <a:rPr sz="1650" b="1">
                <a:solidFill>
                  <a:srgbClr val="1547B9"/>
                </a:solidFill>
              </a:rPr>
              <a:t>Sepet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E4BB6-B07A-4D55-A5EF-43DAEF99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384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A3C"/>
                </a:solidFill>
              </a:defRPr>
            </a:pPr>
            <a:r>
              <a:rPr sz="1350" b="0">
                <a:solidFill>
                  <a:srgbClr val="071A3C"/>
                </a:solidFill>
              </a:rPr>
              <a:t>Ürün fiyatı altında miktar ve işlem kontrolleri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F7C41-27CF-47FD-BD68-0D7CD762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62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991D8-7904-440F-A676-489A2EF0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052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7B9"/>
                </a:solidFill>
              </a:defRPr>
            </a:pPr>
            <a:r>
              <a:rPr sz="1650" b="1">
                <a:solidFill>
                  <a:srgbClr val="1547B9"/>
                </a:solidFill>
              </a:rPr>
              <a:t>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7E2E0-25DF-4FA5-B2E1-3E07AF78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05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A3C"/>
                </a:solidFill>
              </a:defRPr>
            </a:pPr>
            <a:r>
              <a:rPr sz="1350" b="0">
                <a:solidFill>
                  <a:srgbClr val="071A3C"/>
                </a:solidFill>
              </a:rPr>
              <a:t>Kazanç, sipariş, Unilevel ve Matrix bölümleri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CE5E7-4E6A-4474-97EC-394EA9A2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291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DF124-4A28-40BA-ACBA-49A4DC46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720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7B9"/>
                </a:solidFill>
              </a:defRPr>
            </a:pPr>
            <a:r>
              <a:rPr sz="1650" b="1">
                <a:solidFill>
                  <a:srgbClr val="1547B9"/>
                </a:solidFill>
              </a:rPr>
              <a:t>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F05BF-A93F-499F-9D57-98C5EDBD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720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A3C"/>
                </a:solidFill>
              </a:defRPr>
            </a:pPr>
            <a:r>
              <a:rPr sz="1350" b="0">
                <a:solidFill>
                  <a:srgbClr val="071A3C"/>
                </a:solidFill>
              </a:rPr>
              <a:t>Tablolar yatay kaydırma ve kompakt aksiyonlar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CF43E-AE61-410A-9D5F-BEA843C0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959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0A7B9-A801-4D13-8038-5A007580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176"/>
                </a:solidFill>
              </a:defRPr>
            </a:pPr>
            <a:r>
              <a:rPr sz="1425" b="1">
                <a:solidFill>
                  <a:srgbClr val="526176"/>
                </a:solidFill>
              </a:rPr>
              <a:t>Öncelik sırası: okunabilirlik → dokunma alanı → kritik aksiyon → ayrıntılı tablo.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8ED25F-A213-4BC0-AD4F-94E97737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169573571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779006-9440-44FB-9848-894F1300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47B9"/>
                </a:solidFill>
              </a:defRPr>
            </a:pPr>
            <a:r>
              <a:rPr sz="975" b="1">
                <a:solidFill>
                  <a:srgbClr val="1547B9"/>
                </a:solidFill>
              </a:rPr>
              <a:t>KONTROL LISTESI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1B629-809F-4F09-A8C3-A839B098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3C"/>
                </a:solidFill>
              </a:defRPr>
            </a:pPr>
            <a:r>
              <a:rPr sz="2700" b="1">
                <a:solidFill>
                  <a:srgbClr val="071A3C"/>
                </a:solidFill>
              </a:rPr>
              <a:t>Kritik akışlar için kabul testleri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5F5D6-D5D2-4B34-9729-EDFEDE13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AD18A-B13C-415F-B058-5A6F2B75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6"/>
                </a:solidFill>
              </a:defRPr>
            </a:pPr>
            <a:r>
              <a:rPr sz="900" b="1">
                <a:solidFill>
                  <a:srgbClr val="526176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364AD-96A1-4E8F-8281-90B6292E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5334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FE204-1CC0-4BF6-9ADC-0D10F1F2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9525">
            <a:solidFill>
              <a:srgbClr val="E9F8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D902F-93A9-4194-93C5-1342DCBA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9F62"/>
                </a:solidFill>
              </a:defRPr>
            </a:pPr>
            <a:r>
              <a:rPr sz="975" b="1">
                <a:solidFill>
                  <a:srgbClr val="0F9F62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9FABF-1348-4DF9-9137-E79DAA05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38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C"/>
                </a:solidFill>
              </a:defRPr>
            </a:pPr>
            <a:r>
              <a:rPr sz="1200" b="1">
                <a:solidFill>
                  <a:srgbClr val="071A3C"/>
                </a:solidFill>
              </a:rPr>
              <a:t>Lisans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86B2E-47CC-4438-B001-9B124F83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1452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Aktivasyon → Matrix yerleşimi → ilk Unilevel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26CDF-E39F-4906-9AB8-72583C57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24000"/>
            <a:ext cx="5334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04C1F-AA86-4206-B8D2-36AB5A56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9525">
            <a:solidFill>
              <a:srgbClr val="E9F8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29F90-5825-43DE-B549-7DAD1506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9F62"/>
                </a:solidFill>
              </a:defRPr>
            </a:pPr>
            <a:r>
              <a:rPr sz="975" b="1">
                <a:solidFill>
                  <a:srgbClr val="0F9F62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CFF83-0E4C-414B-9F7C-1C0514C2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38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C"/>
                </a:solidFill>
              </a:defRPr>
            </a:pPr>
            <a:r>
              <a:rPr sz="1200" b="1">
                <a:solidFill>
                  <a:srgbClr val="071A3C"/>
                </a:solidFill>
              </a:rPr>
              <a:t>Unilevel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7DC84-552D-48BD-A40C-D54F0A0E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1452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10 seviye oranı + kariyer kilidi + tekrar koruması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0A8BD-5D78-4E6E-8745-4127F2F5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334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9FE44-83D4-4E19-8905-0A8F5252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9525">
            <a:solidFill>
              <a:srgbClr val="E9F8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76C02-4308-4705-B440-85960EFC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9F62"/>
                </a:solidFill>
              </a:defRPr>
            </a:pPr>
            <a:r>
              <a:rPr sz="975" b="1">
                <a:solidFill>
                  <a:srgbClr val="0F9F62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309CE-8434-4553-82F1-F963444B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86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C"/>
                </a:solidFill>
              </a:defRPr>
            </a:pPr>
            <a:r>
              <a:rPr sz="1200" b="1">
                <a:solidFill>
                  <a:srgbClr val="071A3C"/>
                </a:solidFill>
              </a:rPr>
              <a:t>Matrix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9DC7D-228F-4C8E-BD1F-C42DB30D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6227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Aylık vade → %3 → 12/13/14/15 derinlik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34EFE8-8804-4950-BFD8-15552D5F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5334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9A5EF4-EB3A-44E5-B8D0-5488A7C9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9875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9525">
            <a:solidFill>
              <a:srgbClr val="E9F8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0484DD-B031-494A-A5CF-7CE44BC4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9F62"/>
                </a:solidFill>
              </a:defRPr>
            </a:pPr>
            <a:r>
              <a:rPr sz="975" b="1">
                <a:solidFill>
                  <a:srgbClr val="0F9F62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2A408C-497E-4BBD-8C85-646E74E9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86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C"/>
                </a:solidFill>
              </a:defRPr>
            </a:pPr>
            <a:r>
              <a:rPr sz="1200" b="1">
                <a:solidFill>
                  <a:srgbClr val="071A3C"/>
                </a:solidFill>
              </a:rPr>
              <a:t>Ürün bonusu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FA26DD-F1D1-4A99-9F9C-E5347A2C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6227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Normal ve indirimli mod → ödendi + tamamlandı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B2E889-27F9-4B07-B949-0BBD24D2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5334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BA7949-DDCA-47B3-B30C-3B6113AB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9525">
            <a:solidFill>
              <a:srgbClr val="E9F8F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8914C0-100F-4AA0-AADF-78728352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9F62"/>
                </a:solidFill>
              </a:defRPr>
            </a:pPr>
            <a:r>
              <a:rPr sz="975" b="1">
                <a:solidFill>
                  <a:srgbClr val="0F9F62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2EB85-39A6-4464-9012-DE0AF7A5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C"/>
                </a:solidFill>
              </a:defRPr>
            </a:pPr>
            <a:r>
              <a:rPr sz="1200" b="1">
                <a:solidFill>
                  <a:srgbClr val="071A3C"/>
                </a:solidFill>
              </a:rPr>
              <a:t>İade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C36AAF-2CE7-4C7F-ACF8-6AF7D6F6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002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Kazanç ters kaydı + stok restorasyonu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7B3C90-BDBB-4B15-B1DB-64D7590B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0"/>
            <a:ext cx="5334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1F1781-69D6-4EEB-B107-A9F261C9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57625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9525">
            <a:solidFill>
              <a:srgbClr val="E9F8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05FEC3-6E4A-4860-90B7-FEC7C67E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7667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9F62"/>
                </a:solidFill>
              </a:defRPr>
            </a:pPr>
            <a:r>
              <a:rPr sz="975" b="1">
                <a:solidFill>
                  <a:srgbClr val="0F9F62"/>
                </a:solidFill>
              </a:rPr>
              <a:t>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CA5249-B74E-459D-883E-1D45BCA1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33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C"/>
                </a:solidFill>
              </a:defRPr>
            </a:pPr>
            <a:r>
              <a:rPr sz="1200" b="1">
                <a:solidFill>
                  <a:srgbClr val="071A3C"/>
                </a:solidFill>
              </a:rPr>
              <a:t>Finans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F1835F-09A0-4084-B230-A05E85B1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002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Overview toplamları + fatura durum sözleşmesi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C15889-200D-48EA-8812-79F623D0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0"/>
            <a:ext cx="5334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D54C1D-4149-4FF2-BB6D-2035DCFF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9525">
            <a:solidFill>
              <a:srgbClr val="E9F8F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01B09B-0546-4998-BE88-90250B0F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9F62"/>
                </a:solidFill>
              </a:defRPr>
            </a:pPr>
            <a:r>
              <a:rPr sz="975" b="1">
                <a:solidFill>
                  <a:srgbClr val="0F9F62"/>
                </a:solidFill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57172F-F8A6-452E-BDA6-44A9C2B0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81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C"/>
                </a:solidFill>
              </a:defRPr>
            </a:pPr>
            <a:r>
              <a:rPr sz="1200" b="1">
                <a:solidFill>
                  <a:srgbClr val="071A3C"/>
                </a:solidFill>
              </a:rPr>
              <a:t>Cüzdan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D8E2A9-2BC9-4E1C-8CDC-651F7E98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5777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Anlık yansıma + 5.000 TL çekim alt sınırı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9DD7A3-2F0D-4293-B8AF-A949E020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67250"/>
            <a:ext cx="5334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144283-B3E0-40ED-B441-036542B2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05375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9525">
            <a:solidFill>
              <a:srgbClr val="E9F8F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9187F8-5651-4BF5-8333-82EED9EF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2442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9F62"/>
                </a:solidFill>
              </a:defRPr>
            </a:pPr>
            <a:r>
              <a:rPr sz="975" b="1">
                <a:solidFill>
                  <a:srgbClr val="0F9F62"/>
                </a:solidFill>
              </a:rPr>
              <a:t>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26D795-6449-48E1-922A-F1AF3A8B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81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C"/>
                </a:solidFill>
              </a:defRPr>
            </a:pPr>
            <a:r>
              <a:rPr sz="1200" b="1">
                <a:solidFill>
                  <a:srgbClr val="071A3C"/>
                </a:solidFill>
              </a:rPr>
              <a:t>Mobil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409C2F-3900-4FCC-832A-C8E2DD34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5777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6"/>
                </a:solidFill>
              </a:defRPr>
            </a:pPr>
            <a:r>
              <a:rPr sz="1125" b="0">
                <a:solidFill>
                  <a:srgbClr val="526176"/>
                </a:solidFill>
              </a:rPr>
              <a:t>320–430 px görünüm ve dokunma kontrolleri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3DD02C-EF60-4449-BB14-FAA8763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578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47B9"/>
                </a:solidFill>
              </a:defRPr>
            </a:pPr>
            <a:r>
              <a:rPr sz="1350" b="1">
                <a:solidFill>
                  <a:srgbClr val="1547B9"/>
                </a:solidFill>
              </a:rPr>
              <a:t>Başarı ölçütü: aynı iş olayı stokta, finans özetinde ve kazanç defterinde çelişkili sonuç üretmemeli.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E050F5-9C59-4B25-A38F-56A63B49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6"/>
                </a:solidFill>
              </a:defRPr>
            </a:pPr>
            <a:r>
              <a:rPr sz="825" b="0">
                <a:solidFill>
                  <a:srgbClr val="526176"/>
                </a:solidFill>
              </a:rPr>
              <a:t>FTSLine • Geleceğe yön ver</a:t>
            </a:r>
          </a:p>
        </p:txBody>
      </p:sp>
    </p:spTree>
    <p:extLst>
      <p:ext uri="{BB962C8B-B14F-4D97-AF65-F5344CB8AC3E}">
        <p14:creationId xmlns:p14="http://schemas.microsoft.com/office/powerpoint/2010/main" val="111905198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A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6140635df4ecb"/>
          <a:stretch xmlns:a="http://schemas.openxmlformats.org/drawingml/2006/main"/>
        </p:blipFill>
        <p:spPr>
          <a:xfrm xmlns:a="http://schemas.openxmlformats.org/drawingml/2006/main">
            <a:off x="1089743" y="457200"/>
            <a:ext cx="735164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4EF17-FBD7-4C43-BC04-87AEAE81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FTSLine’ın gücü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7F307-379A-43DB-B264-29620142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7E5FF"/>
                </a:solidFill>
              </a:defRPr>
            </a:pPr>
            <a:r>
              <a:rPr sz="2025" b="0">
                <a:solidFill>
                  <a:srgbClr val="D7E5FF"/>
                </a:solidFill>
              </a:rPr>
              <a:t>Ticaret, üyelik, ağ yapısı ve finansal hareketlerin tek doğrulanabilir sistemde birleşmesi.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E9714-8B78-4C34-8327-59DF6569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1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899D5-74B6-4248-ABC2-3972B9C2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96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B8E8"/>
                </a:solidFill>
              </a:defRPr>
            </a:pPr>
            <a:r>
              <a:rPr sz="1350" b="1">
                <a:solidFill>
                  <a:srgbClr val="34B8E8"/>
                </a:solidFill>
              </a:rPr>
              <a:t>Net kurallar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787DD-212A-4C64-9607-3D40E894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196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B8E8"/>
                </a:solidFill>
              </a:defRPr>
            </a:pPr>
            <a:r>
              <a:rPr sz="1350" b="1">
                <a:solidFill>
                  <a:srgbClr val="34B8E8"/>
                </a:solidFill>
              </a:rPr>
              <a:t>İzlenebilir kazanç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64860-3192-485C-9F2C-88726CE9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B8E8"/>
                </a:solidFill>
              </a:defRPr>
            </a:pPr>
            <a:r>
              <a:rPr sz="1350" b="1">
                <a:solidFill>
                  <a:srgbClr val="34B8E8"/>
                </a:solidFill>
              </a:rPr>
              <a:t>Yönetilebilir operasyon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77F22-6566-4F5D-A5C2-CB6E2062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ftsline.net</a:t>
            </a:r>
          </a:p>
        </p:txBody>
      </p:sp>
    </p:spTree>
    <p:extLst>
      <p:ext uri="{BB962C8B-B14F-4D97-AF65-F5344CB8AC3E}">
        <p14:creationId xmlns:p14="http://schemas.microsoft.com/office/powerpoint/2010/main" val="291548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2026-07-28T18:51:16.0960000Z</dcterms:created>
  <dcterms:modified xsi:type="dcterms:W3CDTF">2026-07-28T18:51:16.0960000Z</dcterms:modified>
</coreProperties>
</file>