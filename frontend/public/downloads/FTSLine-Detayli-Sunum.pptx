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1c75625f2a4084" /><Relationship Type="http://schemas.openxmlformats.org/officeDocument/2006/relationships/extended-properties" Target="/docProps/app.xml" Id="R7f9a3151e0a24283" /><Relationship Type="http://schemas.openxmlformats.org/officeDocument/2006/relationships/officeDocument" Target="/ppt/presentation.xml" Id="Rebb7969299c140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e7decaffe14212"/>
  </p:sldMasterIdLst>
  <p:notesMasterIdLst>
    <p:notesMasterId xmlns:r="http://schemas.openxmlformats.org/officeDocument/2006/relationships" r:id="R85fa33a73c9246fb"/>
  </p:notesMasterIdLst>
  <p:sldIdLst>
    <p:sldId xmlns:r="http://schemas.openxmlformats.org/officeDocument/2006/relationships" id="256" r:id="R1b1503bbd9ea4722"/>
    <p:sldId xmlns:r="http://schemas.openxmlformats.org/officeDocument/2006/relationships" id="257" r:id="R28e223b9e5b442c1"/>
    <p:sldId xmlns:r="http://schemas.openxmlformats.org/officeDocument/2006/relationships" id="258" r:id="R7199a450462e41fd"/>
    <p:sldId xmlns:r="http://schemas.openxmlformats.org/officeDocument/2006/relationships" id="259" r:id="R55acafb3fc334040"/>
    <p:sldId xmlns:r="http://schemas.openxmlformats.org/officeDocument/2006/relationships" id="260" r:id="Rffa15e488c0740aa"/>
    <p:sldId xmlns:r="http://schemas.openxmlformats.org/officeDocument/2006/relationships" id="261" r:id="R60431ef4e99b4aa8"/>
    <p:sldId xmlns:r="http://schemas.openxmlformats.org/officeDocument/2006/relationships" id="262" r:id="R306cd52a5ab2431b"/>
    <p:sldId xmlns:r="http://schemas.openxmlformats.org/officeDocument/2006/relationships" id="263" r:id="Rd6d17ddf22fe40d5"/>
    <p:sldId xmlns:r="http://schemas.openxmlformats.org/officeDocument/2006/relationships" id="264" r:id="R3ce5c722a6ac4018"/>
    <p:sldId xmlns:r="http://schemas.openxmlformats.org/officeDocument/2006/relationships" id="265" r:id="R16d520390ca04de4"/>
    <p:sldId xmlns:r="http://schemas.openxmlformats.org/officeDocument/2006/relationships" id="266" r:id="R124ce2a1523a4be1"/>
    <p:sldId xmlns:r="http://schemas.openxmlformats.org/officeDocument/2006/relationships" id="267" r:id="Rd7d0a0e0c2cd41b1"/>
    <p:sldId xmlns:r="http://schemas.openxmlformats.org/officeDocument/2006/relationships" id="268" r:id="R60ecefd640d948ad"/>
    <p:sldId xmlns:r="http://schemas.openxmlformats.org/officeDocument/2006/relationships" id="269" r:id="Rc87a58a25cc04233"/>
    <p:sldId xmlns:r="http://schemas.openxmlformats.org/officeDocument/2006/relationships" id="270" r:id="R189c39ffc25047fb"/>
    <p:sldId xmlns:r="http://schemas.openxmlformats.org/officeDocument/2006/relationships" id="271" r:id="Rd053fc68795c48e3"/>
    <p:sldId xmlns:r="http://schemas.openxmlformats.org/officeDocument/2006/relationships" id="272" r:id="R116287b3126a4728"/>
    <p:sldId xmlns:r="http://schemas.openxmlformats.org/officeDocument/2006/relationships" id="273" r:id="R3704092b1b194cb3"/>
    <p:sldId xmlns:r="http://schemas.openxmlformats.org/officeDocument/2006/relationships" id="274" r:id="Rb7824fa3a3164e4a"/>
    <p:sldId xmlns:r="http://schemas.openxmlformats.org/officeDocument/2006/relationships" id="275" r:id="R5e47f7d6a46e4922"/>
    <p:sldId xmlns:r="http://schemas.openxmlformats.org/officeDocument/2006/relationships" id="276" r:id="R3559f2d09a6a4232"/>
    <p:sldId xmlns:r="http://schemas.openxmlformats.org/officeDocument/2006/relationships" id="277" r:id="R9488b6135fe8404c"/>
    <p:sldId xmlns:r="http://schemas.openxmlformats.org/officeDocument/2006/relationships" id="278" r:id="R39d15eaae4c54306"/>
    <p:sldId xmlns:r="http://schemas.openxmlformats.org/officeDocument/2006/relationships" id="279" r:id="R688c3849c3464d0e"/>
    <p:sldId xmlns:r="http://schemas.openxmlformats.org/officeDocument/2006/relationships" id="280" r:id="R3fc7f739debc4b12"/>
    <p:sldId xmlns:r="http://schemas.openxmlformats.org/officeDocument/2006/relationships" id="281" r:id="Rf8a7fc8585224cb6"/>
    <p:sldId xmlns:r="http://schemas.openxmlformats.org/officeDocument/2006/relationships" id="282" r:id="Rdc43b48aeac941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e282d4d6784ba7" /><Relationship Type="http://schemas.openxmlformats.org/officeDocument/2006/relationships/slideMaster" Target="/ppt/slideMasters/slideMaster1.xml" Id="Rcde7decaffe14212" /><Relationship Type="http://schemas.openxmlformats.org/officeDocument/2006/relationships/notesMaster" Target="/ppt/notesMasters/notesMaster1.xml" Id="R85fa33a73c9246fb" /><Relationship Type="http://schemas.openxmlformats.org/officeDocument/2006/relationships/presProps" Target="/ppt/presProps.xml" Id="R3db326ba0d594842" /><Relationship Type="http://schemas.openxmlformats.org/officeDocument/2006/relationships/tableStyles" Target="/ppt/tableStyles.xml" Id="R8a2b38ffbca44466" /><Relationship Type="http://schemas.openxmlformats.org/officeDocument/2006/relationships/slide" Target="/ppt/slides/slide1.xml" Id="R1b1503bbd9ea4722" /><Relationship Type="http://schemas.openxmlformats.org/officeDocument/2006/relationships/slide" Target="/ppt/slides/slide2.xml" Id="R28e223b9e5b442c1" /><Relationship Type="http://schemas.openxmlformats.org/officeDocument/2006/relationships/slide" Target="/ppt/slides/slide3.xml" Id="R7199a450462e41fd" /><Relationship Type="http://schemas.openxmlformats.org/officeDocument/2006/relationships/slide" Target="/ppt/slides/slide4.xml" Id="R55acafb3fc334040" /><Relationship Type="http://schemas.openxmlformats.org/officeDocument/2006/relationships/slide" Target="/ppt/slides/slide5.xml" Id="Rffa15e488c0740aa" /><Relationship Type="http://schemas.openxmlformats.org/officeDocument/2006/relationships/slide" Target="/ppt/slides/slide6.xml" Id="R60431ef4e99b4aa8" /><Relationship Type="http://schemas.openxmlformats.org/officeDocument/2006/relationships/slide" Target="/ppt/slides/slide7.xml" Id="R306cd52a5ab2431b" /><Relationship Type="http://schemas.openxmlformats.org/officeDocument/2006/relationships/slide" Target="/ppt/slides/slide8.xml" Id="Rd6d17ddf22fe40d5" /><Relationship Type="http://schemas.openxmlformats.org/officeDocument/2006/relationships/slide" Target="/ppt/slides/slide9.xml" Id="R3ce5c722a6ac4018" /><Relationship Type="http://schemas.openxmlformats.org/officeDocument/2006/relationships/slide" Target="/ppt/slides/slide10.xml" Id="R16d520390ca04de4" /><Relationship Type="http://schemas.openxmlformats.org/officeDocument/2006/relationships/slide" Target="/ppt/slides/slide11.xml" Id="R124ce2a1523a4be1" /><Relationship Type="http://schemas.openxmlformats.org/officeDocument/2006/relationships/slide" Target="/ppt/slides/slide12.xml" Id="Rd7d0a0e0c2cd41b1" /><Relationship Type="http://schemas.openxmlformats.org/officeDocument/2006/relationships/slide" Target="/ppt/slides/slide13.xml" Id="R60ecefd640d948ad" /><Relationship Type="http://schemas.openxmlformats.org/officeDocument/2006/relationships/slide" Target="/ppt/slides/slide14.xml" Id="Rc87a58a25cc04233" /><Relationship Type="http://schemas.openxmlformats.org/officeDocument/2006/relationships/slide" Target="/ppt/slides/slide15.xml" Id="R189c39ffc25047fb" /><Relationship Type="http://schemas.openxmlformats.org/officeDocument/2006/relationships/slide" Target="/ppt/slides/slide16.xml" Id="Rd053fc68795c48e3" /><Relationship Type="http://schemas.openxmlformats.org/officeDocument/2006/relationships/slide" Target="/ppt/slides/slide17.xml" Id="R116287b3126a4728" /><Relationship Type="http://schemas.openxmlformats.org/officeDocument/2006/relationships/slide" Target="/ppt/slides/slide18.xml" Id="R3704092b1b194cb3" /><Relationship Type="http://schemas.openxmlformats.org/officeDocument/2006/relationships/slide" Target="/ppt/slides/slide19.xml" Id="Rb7824fa3a3164e4a" /><Relationship Type="http://schemas.openxmlformats.org/officeDocument/2006/relationships/slide" Target="/ppt/slides/slide20.xml" Id="R5e47f7d6a46e4922" /><Relationship Type="http://schemas.openxmlformats.org/officeDocument/2006/relationships/slide" Target="/ppt/slides/slide21.xml" Id="R3559f2d09a6a4232" /><Relationship Type="http://schemas.openxmlformats.org/officeDocument/2006/relationships/slide" Target="/ppt/slides/slide22.xml" Id="R9488b6135fe8404c" /><Relationship Type="http://schemas.openxmlformats.org/officeDocument/2006/relationships/slide" Target="/ppt/slides/slide23.xml" Id="R39d15eaae4c54306" /><Relationship Type="http://schemas.openxmlformats.org/officeDocument/2006/relationships/slide" Target="/ppt/slides/slide24.xml" Id="R688c3849c3464d0e" /><Relationship Type="http://schemas.openxmlformats.org/officeDocument/2006/relationships/slide" Target="/ppt/slides/slide25.xml" Id="R3fc7f739debc4b12" /><Relationship Type="http://schemas.openxmlformats.org/officeDocument/2006/relationships/slide" Target="/ppt/slides/slide26.xml" Id="Rf8a7fc8585224cb6" /><Relationship Type="http://schemas.openxmlformats.org/officeDocument/2006/relationships/slide" Target="/ppt/slides/slide27.xml" Id="Rdc43b48aeac941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da6ac2c4af47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fb49f6f20c469e" /><Relationship Type="http://schemas.openxmlformats.org/officeDocument/2006/relationships/notesMaster" Target="/ppt/notesMasters/notesMaster1.xml" Id="R01a566c055c240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34a4623d3c435a" /><Relationship Type="http://schemas.openxmlformats.org/officeDocument/2006/relationships/notesMaster" Target="/ppt/notesMasters/notesMaster1.xml" Id="R988774a237d94c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7f225cf35c4d8f" /><Relationship Type="http://schemas.openxmlformats.org/officeDocument/2006/relationships/notesMaster" Target="/ppt/notesMasters/notesMaster1.xml" Id="R0c0a4f8f37794d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002cbfe678447d" /><Relationship Type="http://schemas.openxmlformats.org/officeDocument/2006/relationships/notesMaster" Target="/ppt/notesMasters/notesMaster1.xml" Id="R153bdf3bdcfb4c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26d6cb3ca84815" /><Relationship Type="http://schemas.openxmlformats.org/officeDocument/2006/relationships/notesMaster" Target="/ppt/notesMasters/notesMaster1.xml" Id="R96d3db4d050a43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4236ca47a74d72" /><Relationship Type="http://schemas.openxmlformats.org/officeDocument/2006/relationships/notesMaster" Target="/ppt/notesMasters/notesMaster1.xml" Id="R022cf0324a0240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f21cee5ffc45f5" /><Relationship Type="http://schemas.openxmlformats.org/officeDocument/2006/relationships/notesMaster" Target="/ppt/notesMasters/notesMaster1.xml" Id="R2fc134452bf048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e344d34a874cdb" /><Relationship Type="http://schemas.openxmlformats.org/officeDocument/2006/relationships/notesMaster" Target="/ppt/notesMasters/notesMaster1.xml" Id="R24306137938245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0d17442f514c3d" /><Relationship Type="http://schemas.openxmlformats.org/officeDocument/2006/relationships/notesMaster" Target="/ppt/notesMasters/notesMaster1.xml" Id="Rcfba4bbdc0094b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7554a847604941" /><Relationship Type="http://schemas.openxmlformats.org/officeDocument/2006/relationships/notesMaster" Target="/ppt/notesMasters/notesMaster1.xml" Id="R379233e690e04f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2cbb0a7b5b4f08" /><Relationship Type="http://schemas.openxmlformats.org/officeDocument/2006/relationships/notesMaster" Target="/ppt/notesMasters/notesMaster1.xml" Id="R821ea09fd2184f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f99b5250a74d40" /><Relationship Type="http://schemas.openxmlformats.org/officeDocument/2006/relationships/notesMaster" Target="/ppt/notesMasters/notesMaster1.xml" Id="R9879c7d8700646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dd823b95d3475a" /><Relationship Type="http://schemas.openxmlformats.org/officeDocument/2006/relationships/notesMaster" Target="/ppt/notesMasters/notesMaster1.xml" Id="Rbde8606dd5864c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9d9e6a1f434d52" /><Relationship Type="http://schemas.openxmlformats.org/officeDocument/2006/relationships/notesMaster" Target="/ppt/notesMasters/notesMaster1.xml" Id="R410971b99ddc44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766bbab94ce487d" /><Relationship Type="http://schemas.openxmlformats.org/officeDocument/2006/relationships/notesMaster" Target="/ppt/notesMasters/notesMaster1.xml" Id="Reb9e5cfe33884e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da47d2ebbf74e2e" /><Relationship Type="http://schemas.openxmlformats.org/officeDocument/2006/relationships/notesMaster" Target="/ppt/notesMasters/notesMaster1.xml" Id="Rcbd99264bc4340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67dc8d81b8d444e" /><Relationship Type="http://schemas.openxmlformats.org/officeDocument/2006/relationships/notesMaster" Target="/ppt/notesMasters/notesMaster1.xml" Id="R4ead9c5ebd644bb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369081186e24d53" /><Relationship Type="http://schemas.openxmlformats.org/officeDocument/2006/relationships/notesMaster" Target="/ppt/notesMasters/notesMaster1.xml" Id="R6ce62c4daebe45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6c3107c24494ae5" /><Relationship Type="http://schemas.openxmlformats.org/officeDocument/2006/relationships/notesMaster" Target="/ppt/notesMasters/notesMaster1.xml" Id="Rac3946d6ae27451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6b5db920d574c8a" /><Relationship Type="http://schemas.openxmlformats.org/officeDocument/2006/relationships/notesMaster" Target="/ppt/notesMasters/notesMaster1.xml" Id="R0b69401f133448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909f69835f746f1" /><Relationship Type="http://schemas.openxmlformats.org/officeDocument/2006/relationships/notesMaster" Target="/ppt/notesMasters/notesMaster1.xml" Id="R787c3c76667a48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538bf826f3442b2" /><Relationship Type="http://schemas.openxmlformats.org/officeDocument/2006/relationships/notesMaster" Target="/ppt/notesMasters/notesMaster1.xml" Id="Ra77b4522abae4ef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ced6fbbb5024c07" /><Relationship Type="http://schemas.openxmlformats.org/officeDocument/2006/relationships/notesMaster" Target="/ppt/notesMasters/notesMaster1.xml" Id="R953f21f573e4441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7af8827384843a2" /><Relationship Type="http://schemas.openxmlformats.org/officeDocument/2006/relationships/notesMaster" Target="/ppt/notesMasters/notesMaster1.xml" Id="R48fb160d6504426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66eacd48ea44732" /><Relationship Type="http://schemas.openxmlformats.org/officeDocument/2006/relationships/notesMaster" Target="/ppt/notesMasters/notesMaster1.xml" Id="R9dd4ed1a87dd42b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7e3c02441364c66" /><Relationship Type="http://schemas.openxmlformats.org/officeDocument/2006/relationships/notesMaster" Target="/ppt/notesMasters/notesMaster1.xml" Id="Rbaf2ed8a7f434f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ff8a52f035415f" /><Relationship Type="http://schemas.openxmlformats.org/officeDocument/2006/relationships/notesMaster" Target="/ppt/notesMasters/notesMaster1.xml" Id="Rbd5b0550454d44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FTSLine’ı yalnızca bir alışveriş sitesi değil, ticaret ve network operasyonlarını aynı omurgada birleştiren bir platform olarak konumlandırın.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C:\Users\abdul\Documents\Codex\2026-07-22\in-abdulkerimhan-ftsline-trace-the-finance\work\ftsline\frontend\public\ftsline.png</a:t>
            </a:r>
          </a:p>
          <a:p xmlns:a="http://schemas.openxmlformats.org/drawingml/2006/main">
            <a:r>
              <a:t>- C:\Users\abdul\Documents\Codex\2026-07-22\in-abdulkerimhan-ftsline-trace-the-finance\work\ftsline\README.md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C:\Users\abdul\Documents\Codex\2026-07-22\in-abdulkerimhan-ftsline-trace-the-finance\work\ftsline\frontend\src\App.jsx</a:t>
            </a:r>
          </a:p>
          <a:p xmlns:a="http://schemas.openxmlformats.org/drawingml/2006/main">
            <a:r>
              <a:t>- C:\Users\abdul\Documents\Codex\2026-07-22\in-abdulkerimhan-ftsline-trace-the-finance\work\ftsline\backend\src\server.js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C:\Users\abdul\Documents\Codex\2026-07-22\in-abdulkerimhan-ftsline-trace-the-finance\work\ftsline\frontend\src</a:t>
            </a:r>
          </a:p>
          <a:p xmlns:a="http://schemas.openxmlformats.org/drawingml/2006/main">
            <a:r>
              <a:t>- C:\Users\abdul\Documents\Codex\2026-07-22\in-abdulkerimhan-ftsline-trace-the-finance\work\ftsline\backend\src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C:\Users\abdul\Documents\Codex\2026-07-22\in-abdulkerimhan-ftsline-trace-the-finance\work\ftsline\backend\src\routes\orderRoutes.js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C:\Users\abdul\Documents\Codex\2026-07-22\in-abdulkerimhan-ftsline-trace-the-finance\work\ftsline\backend\src\services\licensePlanService.js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C:\Users\abdul\Documents\Codex\2026-07-22\in-abdulkerimhan-ftsline-trace-the-finance\work\ftsline\backend\src\routes\earningRoutes.js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C:\Users\abdul\Documents\Codex\2026-07-22\in-abdulkerimhan-ftsline-trace-the-finance\work\ftsline\frontend\src\App.jsx</a:t>
            </a:r>
          </a:p>
          <a:p xmlns:a="http://schemas.openxmlformats.org/drawingml/2006/main">
            <a:r>
              <a:t>- C:\Users\abdul\Documents\Codex\2026-07-22\in-abdulkerimhan-ftsline-trace-the-finance\work\ftsline\backend\src\middleware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C:\Users\abdul\Documents\Codex\2026-07-22\in-abdulkerimhan-ftsline-trace-the-finance\work\ftsline\backend\src\services\licensePlanService.js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C:\Users\abdul\Documents\Codex\2026-07-22\in-abdulkerimhan-ftsline-trace-the-finance\work\ftsline\backend\src\services\unilevelBonusService.js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C:\Users\abdul\Documents\Codex\2026-07-22\in-abdulkerimhan-ftsline-trace-the-finance\work\ftsline\backend\src\services\careerBonusService.js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C:\Users\abdul\Documents\Codex\2026-07-22\in-abdulkerimhan-ftsline-trace-the-finance\work\ftsline\backend\src\services\unilevelBonusService.js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C:\Users\abdul\Documents\Codex\2026-07-22\in-abdulkerimhan-ftsline-trace-the-finance\work\ftsline\backend\src\services\careerBonusService.js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C:\Users\abdul\Documents\Codex\2026-07-22\in-abdulkerimhan-ftsline-trace-the-finance\work\ftsline\backend\src\services\poolService.js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C:\Users\abdul\Documents\Codex\2026-07-22\in-abdulkerimhan-ftsline-trace-the-finance\work\ftsline\backend\src\services\unilevelBonusService.js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C:\Users\abdul\Documents\Codex\2026-07-22\in-abdulkerimhan-ftsline-trace-the-finance\work\ftsline\backend\src\services\careerService.js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C:\Users\abdul\Documents\Codex\2026-07-22\in-abdulkerimhan-ftsline-trace-the-finance\work\ftsline\backend\src\services\unilevelBonusService.js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C:\Users\abdul\Documents\Codex\2026-07-22\in-abdulkerimhan-ftsline-trace-the-finance\work\ftsline\backend\src\services\unilevelBonusService.js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C:\Users\abdul\Documents\Codex\2026-07-22\in-abdulkerimhan-ftsline-trace-the-finance\work\ftsline\backend\src\services\licensePlanService.js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C:\Users\abdul\Documents\Codex\2026-07-22\in-abdulkerimhan-ftsline-trace-the-finance\work\ftsline\backend\src\services\matrixService.js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C:\Users\abdul\Documents\Codex\2026-07-22\in-abdulkerimhan-ftsline-trace-the-finance\work\ftsline\backend\src\services\careerBonusService.js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C:\Users\abdul\Documents\Codex\2026-07-22\in-abdulkerimhan-ftsline-trace-the-finance\work\ftsline\backend\src\services\licensePlanService.js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C:\Users\abdul\Documents\Codex\2026-07-22\in-abdulkerimhan-ftsline-trace-the-finance\work\ftsline\backend\src\services\careerService.js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C:\Users\abdul\Documents\Codex\2026-07-22\in-abdulkerimhan-ftsline-trace-the-finance\work\ftsline\backend\src\services\productNetworkBonusService.js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C:\Users\abdul\Documents\Codex\2026-07-22\in-abdulkerimhan-ftsline-trace-the-finance\work\ftsline\backend\src\services\productNetworkRules.js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C:\Users\abdul\Documents\Codex\2026-07-22\in-abdulkerimhan-ftsline-trace-the-finance\work\ftsline\backend\src\models\Order.js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C:\Users\abdul\Documents\Codex\2026-07-22\in-abdulkerimhan-ftsline-trace-the-finance\work\ftsline\backend\src\services\financeContractService.js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C:\Users\abdul\Documents\Codex\2026-07-22\in-abdulkerimhan-ftsline-trace-the-finance\work\ftsline\backend\src\services\orderStockService.js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C:\Users\abdul\Documents\Codex\2026-07-22\in-abdulkerimhan-ftsline-trace-the-finance\work\ftsline\backend\src\services\financeContractService.js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C:\Users\abdul\Documents\Codex\2026-07-22\in-abdulkerimhan-ftsline-trace-the-finance\work\ftsline\backend\src\models\Order.js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C:\Users\abdul\Documents\Codex\2026-07-22\in-abdulkerimhan-ftsline-trace-the-finance\work\ftsline\backend\src\routes\adminRoutes.js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C:\Users\abdul\Documents\Codex\2026-07-22\in-abdulkerimhan-ftsline-trace-the-finance\work\ftsline\backend\src\services\financeContractService.js</a:t>
            </a:r>
          </a:p>
          <a:p xmlns:a="http://schemas.openxmlformats.org/drawingml/2006/main">
            <a:r>
              <a:t>- C:\Users\abdul\Documents\Codex\2026-07-22\in-abdulkerimhan-ftsline-trace-the-finance\work\ftsline\frontend\src\pages\AdminPanel.jsx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C:\Users\abdul\Documents\Codex\2026-07-22\in-abdulkerimhan-ftsline-trace-the-finance\work\ftsline\backend\src\services\orderStockService.js</a:t>
            </a:r>
          </a:p>
          <a:p xmlns:a="http://schemas.openxmlformats.org/drawingml/2006/main">
            <a:r>
              <a:t>- C:\Users\abdul\Documents\Codex\2026-07-22\in-abdulkerimhan-ftsline-trace-the-finance\work\ftsline\backend\src\models\Order.js</a:t>
            </a:r>
          </a:p>
          <a:p xmlns:a="http://schemas.openxmlformats.org/drawingml/2006/main">
            <a:r>
              <a:t>- C:\Users\abdul\Documents\Codex\2026-07-22\in-abdulkerimhan-ftsline-trace-the-finance\work\ftsline\backend\src\routes\adminRoutes.js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C:\Users\abdul\Documents\Codex\2026-07-22\in-abdulkerimhan-ftsline-trace-the-finance\work\ftsline\backend\src\routes\earningRoutes.js</a:t>
            </a:r>
          </a:p>
          <a:p xmlns:a="http://schemas.openxmlformats.org/drawingml/2006/main">
            <a:r>
              <a:t>- C:\Users\abdul\Documents\Codex\2026-07-22\in-abdulkerimhan-ftsline-trace-the-finance\work\ftsline\backend\src\models\WithdrawalRequest.js</a:t>
            </a:r>
          </a:p>
          <a:p xmlns:a="http://schemas.openxmlformats.org/drawingml/2006/main">
            <a:r>
              <a:t>- C:\Users\abdul\Documents\Codex\2026-07-22\in-abdulkerimhan-ftsline-trace-the-finance\work\ftsline\frontend\src\pages\Dashboard.jsx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C:\Users\abdul\Documents\Codex\2026-07-22\in-abdulkerimhan-ftsline-trace-the-finance\work\ftsline\backend\src\services\poolService.js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C:\Users\abdul\Documents\Codex\2026-07-22\in-abdulkerimhan-ftsline-trace-the-finance\work\ftsline\frontend\src\pages\AdminPanel.jsx</a:t>
            </a:r>
          </a:p>
          <a:p xmlns:a="http://schemas.openxmlformats.org/drawingml/2006/main">
            <a:r>
              <a:t>- C:\Users\abdul\Documents\Codex\2026-07-22\in-abdulkerimhan-ftsline-trace-the-finance\work\ftsline\backend\src\routes\adminRoutes.js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C:\Users\abdul\Documents\Codex\2026-07-22\in-abdulkerimhan-ftsline-trace-the-finance\work\ftsline\frontend\src\components\Navbar.css</a:t>
            </a:r>
          </a:p>
          <a:p xmlns:a="http://schemas.openxmlformats.org/drawingml/2006/main">
            <a:r>
              <a:t>- C:\Users\abdul\Documents\Codex\2026-07-22\in-abdulkerimhan-ftsline-trace-the-finance\work\ftsline\frontend\src\pages\Dashboard.css</a:t>
            </a:r>
          </a:p>
          <a:p xmlns:a="http://schemas.openxmlformats.org/drawingml/2006/main">
            <a:r>
              <a:t>- C:\Users\abdul\Documents\Codex\2026-07-22\in-abdulkerimhan-ftsline-trace-the-finance\work\ftsline\frontend\src\pages\AdminPanel.css</a:t>
            </a:r>
          </a:p>
          <a:p xmlns:a="http://schemas.openxmlformats.org/drawingml/2006/main">
            <a:r>
              <a:t>- C:\Users\abdul\Documents\Codex\2026-07-22\in-abdulkerimhan-ftsline-trace-the-finance\work\ftsline\frontend\src\pages\Cart.css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C:\Users\abdul\Documents\Codex\2026-07-22\in-abdulkerimhan-ftsline-trace-the-finance\work\ftsline\backend\src\routes\orderRoutes.js</a:t>
            </a:r>
          </a:p>
          <a:p xmlns:a="http://schemas.openxmlformats.org/drawingml/2006/main">
            <a:r>
              <a:t>- C:\Users\abdul\Documents\Codex\2026-07-22\in-abdulkerimhan-ftsline-trace-the-finance\work\ftsline\backend\src\routes\adminRoutes.js</a:t>
            </a:r>
          </a:p>
          <a:p xmlns:a="http://schemas.openxmlformats.org/drawingml/2006/main">
            <a:r>
              <a:t>- C:\Users\abdul\Documents\Codex\2026-07-22\in-abdulkerimhan-ftsline-trace-the-finance\work\ftsline\backend\src\services</a:t>
            </a:r>
          </a:p>
          <a:p xmlns:a="http://schemas.openxmlformats.org/drawingml/2006/main">
            <a:r>
              <a:t>- C:\Users\abdul\Documents\Codex\2026-07-22\in-abdulkerimhan-ftsline-trace-the-finance\work\ftsline\frontend\src\pages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Sunumu, platformun temel vaadini tekrar ederek kapatın: sistemin değeri tek tek özelliklerden değil, bütün akışların aynı kayıt ve kontrol omurgasında birleşmesinden gelir.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C:\Users\abdul\Documents\Codex\2026-07-22\in-abdulkerimhan-ftsline-trace-the-finance\work\ftsline\frontend\public\ftsline.png</a:t>
            </a:r>
          </a:p>
          <a:p xmlns:a="http://schemas.openxmlformats.org/drawingml/2006/main">
            <a:r>
              <a:t>- https://ftsline.vercel.app/dashboard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1d5ebb3e4145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07405bf1484e52" /><Relationship Type="http://schemas.openxmlformats.org/officeDocument/2006/relationships/slideLayout" Target="/ppt/slideLayouts/slideLayout1.xml" Id="Raf972e02273c45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972e02273c45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c018f8d7a4195" /><Relationship Type="http://schemas.openxmlformats.org/officeDocument/2006/relationships/image" Target="/ppt/media/image.png" Id="R2f8061cdf3734f04" /><Relationship Type="http://schemas.openxmlformats.org/officeDocument/2006/relationships/notesSlide" Target="/ppt/notesSlides/notesSlide1.xml" Id="Rb62a4a0f9e724a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bea5d402f45c9" /><Relationship Type="http://schemas.openxmlformats.org/officeDocument/2006/relationships/notesSlide" Target="/ppt/notesSlides/notesSlide2.xml" Id="R4480e36952e645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d95513add4e23" /><Relationship Type="http://schemas.openxmlformats.org/officeDocument/2006/relationships/notesSlide" Target="/ppt/notesSlides/notesSlide3.xml" Id="R93f7a3dded3b4a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5c610a65546bb" /><Relationship Type="http://schemas.openxmlformats.org/officeDocument/2006/relationships/notesSlide" Target="/ppt/notesSlides/notesSlide4.xml" Id="R19d611488c0d42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63d696775475f" /><Relationship Type="http://schemas.openxmlformats.org/officeDocument/2006/relationships/notesSlide" Target="/ppt/notesSlides/notesSlide5.xml" Id="R2901b9fade4d4a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2242ea2c24ea1" /><Relationship Type="http://schemas.openxmlformats.org/officeDocument/2006/relationships/notesSlide" Target="/ppt/notesSlides/notesSlide6.xml" Id="R3b20467feb5448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7317aa7334c26" /><Relationship Type="http://schemas.openxmlformats.org/officeDocument/2006/relationships/notesSlide" Target="/ppt/notesSlides/notesSlide7.xml" Id="R29af73576d7c4d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d56fecce64463" /><Relationship Type="http://schemas.openxmlformats.org/officeDocument/2006/relationships/notesSlide" Target="/ppt/notesSlides/notesSlide8.xml" Id="R6f4ab32e3d0b4c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8c21b0a9a4c2a" /><Relationship Type="http://schemas.openxmlformats.org/officeDocument/2006/relationships/notesSlide" Target="/ppt/notesSlides/notesSlide9.xml" Id="Rca533bf1128b49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6ff3819164cda" /><Relationship Type="http://schemas.openxmlformats.org/officeDocument/2006/relationships/notesSlide" Target="/ppt/notesSlides/notesSlide10.xml" Id="R5ddd7bf91eeb4c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be656441a4f13" /><Relationship Type="http://schemas.openxmlformats.org/officeDocument/2006/relationships/notesSlide" Target="/ppt/notesSlides/notesSlide11.xml" Id="R34809dd0469042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70caf30f347e5" /><Relationship Type="http://schemas.openxmlformats.org/officeDocument/2006/relationships/notesSlide" Target="/ppt/notesSlides/notesSlide12.xml" Id="Rd13e3b7f39244f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0f75bffb24bcd" /><Relationship Type="http://schemas.openxmlformats.org/officeDocument/2006/relationships/notesSlide" Target="/ppt/notesSlides/notesSlide13.xml" Id="Rda350f3b8d1041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ae139f52a4906" /><Relationship Type="http://schemas.openxmlformats.org/officeDocument/2006/relationships/notesSlide" Target="/ppt/notesSlides/notesSlide14.xml" Id="Rf4e2cbcd5be0439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106862c564873" /><Relationship Type="http://schemas.openxmlformats.org/officeDocument/2006/relationships/notesSlide" Target="/ppt/notesSlides/notesSlide15.xml" Id="R653d6ebaa4744ce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a8d33b0104c40" /><Relationship Type="http://schemas.openxmlformats.org/officeDocument/2006/relationships/notesSlide" Target="/ppt/notesSlides/notesSlide16.xml" Id="Rcf456aa953ba487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3277a224e407d" /><Relationship Type="http://schemas.openxmlformats.org/officeDocument/2006/relationships/notesSlide" Target="/ppt/notesSlides/notesSlide17.xml" Id="Rb8d10c43411d4c0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f4b96cd164281" /><Relationship Type="http://schemas.openxmlformats.org/officeDocument/2006/relationships/notesSlide" Target="/ppt/notesSlides/notesSlide18.xml" Id="R57608a1e05ae4fe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f2f2568a146c4" /><Relationship Type="http://schemas.openxmlformats.org/officeDocument/2006/relationships/notesSlide" Target="/ppt/notesSlides/notesSlide19.xml" Id="R4dc7756f214f4e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0aaeeae4743e4" /><Relationship Type="http://schemas.openxmlformats.org/officeDocument/2006/relationships/notesSlide" Target="/ppt/notesSlides/notesSlide20.xml" Id="R3c05da1953cc461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077edce774545" /><Relationship Type="http://schemas.openxmlformats.org/officeDocument/2006/relationships/notesSlide" Target="/ppt/notesSlides/notesSlide21.xml" Id="R20af853e350a42d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2fbdf18b14e13" /><Relationship Type="http://schemas.openxmlformats.org/officeDocument/2006/relationships/notesSlide" Target="/ppt/notesSlides/notesSlide22.xml" Id="Re0d6c1f5f8ae4c9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3c71d63404b1d" /><Relationship Type="http://schemas.openxmlformats.org/officeDocument/2006/relationships/notesSlide" Target="/ppt/notesSlides/notesSlide23.xml" Id="R64eaebf78d0042d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ef4df7a1f491a" /><Relationship Type="http://schemas.openxmlformats.org/officeDocument/2006/relationships/notesSlide" Target="/ppt/notesSlides/notesSlide24.xml" Id="R8422d3d6dfd345c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5aee765c14b64" /><Relationship Type="http://schemas.openxmlformats.org/officeDocument/2006/relationships/notesSlide" Target="/ppt/notesSlides/notesSlide25.xml" Id="R451dde0fb08045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9536d901b43bb" /><Relationship Type="http://schemas.openxmlformats.org/officeDocument/2006/relationships/notesSlide" Target="/ppt/notesSlides/notesSlide26.xml" Id="Rbab1a8ffc650430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316dbf7134fdd" /><Relationship Type="http://schemas.openxmlformats.org/officeDocument/2006/relationships/image" Target="/ppt/media/image2.png" Id="R406b3a2981b74fd1" /><Relationship Type="http://schemas.openxmlformats.org/officeDocument/2006/relationships/notesSlide" Target="/ppt/notesSlides/notesSlide27.xml" Id="R8b672e4d8c9842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061cdf3734f04"/>
          <a:stretch xmlns:a="http://schemas.openxmlformats.org/drawingml/2006/main"/>
        </p:blipFill>
        <p:spPr>
          <a:xfrm xmlns:a="http://schemas.openxmlformats.org/drawingml/2006/main">
            <a:off x="1108655" y="438150"/>
            <a:ext cx="744966" cy="723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D1705-F709-4481-AB39-2D3A91EE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38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71A3C"/>
                </a:solidFill>
              </a:defRPr>
            </a:pPr>
            <a:r>
              <a:rPr sz="4950" b="1">
                <a:solidFill>
                  <a:srgbClr val="071A3C"/>
                </a:solidFill>
              </a:rPr>
              <a:t>FTSLine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38C22-5D66-40AF-9D7E-25EDDB79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14625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547B9"/>
                </a:solidFill>
              </a:defRPr>
            </a:pPr>
            <a:r>
              <a:rPr sz="2175" b="0">
                <a:solidFill>
                  <a:srgbClr val="1547B9"/>
                </a:solidFill>
              </a:rPr>
              <a:t>Dijital ticaret, lisans ve ağ kazanç ekosistemi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E080F-18AD-4E44-8D62-733E07AF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676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6"/>
                </a:solidFill>
              </a:defRPr>
            </a:pPr>
            <a:r>
              <a:rPr sz="1575" b="0">
                <a:solidFill>
                  <a:srgbClr val="526176"/>
                </a:solidFill>
              </a:rPr>
              <a:t>Ürün kataloğundan siparişe; Unilevel, Matrix, kariyer, finans ve yönetim operasyonlarına kadar bütünsel sunum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9115B-D075-4764-B917-BCB37840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66750"/>
            <a:ext cx="3143250" cy="5143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F80CE-FF02-4B97-99B7-56C6B218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0490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4B8E8"/>
                </a:solidFill>
              </a:defRPr>
            </a:pPr>
            <a:r>
              <a:rPr sz="2025" b="1">
                <a:solidFill>
                  <a:srgbClr val="34B8E8"/>
                </a:solidFill>
              </a:rPr>
              <a:t>E-ticaret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81AE9-7B10-4C93-BE4A-3C086C4C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E3E30-2419-4433-98C7-9BD4BB4A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240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Lisans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F4327-E220-4F90-AC88-AFF361AC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F6EF6-E9E8-407A-B89D-02662DD8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Unilevel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5716A-D6F8-40E5-811C-354426B8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B2C0B-E22C-404F-9078-DCA419B1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623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Matrix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C946B-6DF6-4157-BF7E-7A8D65C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55678-A9DB-48F0-BD51-9855C94A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8150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Finans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EA3DD-0EC6-4E2C-8BEA-36091178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76"/>
                </a:solidFill>
              </a:defRPr>
            </a:pPr>
            <a:r>
              <a:rPr sz="975" b="1">
                <a:solidFill>
                  <a:srgbClr val="526176"/>
                </a:solidFill>
              </a:rPr>
              <a:t>Temmuz 2026 • Detaylı Sistem Sunumu</a:t>
            </a:r>
          </a:p>
        </p:txBody>
      </p:sp>
    </p:spTree>
    <p:extLst>
      <p:ext uri="{BB962C8B-B14F-4D97-AF65-F5344CB8AC3E}">
        <p14:creationId xmlns:p14="http://schemas.microsoft.com/office/powerpoint/2010/main" val="1622400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8E87B-CFFB-45DE-9B0D-BAB6222F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YÖNETICI ÖZETI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147F6-6EDF-4307-BC15-A470ABC4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Tek platform, birbirine bağlı beş değer katmanı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0D1E7-80D9-4182-855F-4FF5ACF1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1E1EE-CCD3-4011-9FE4-EBB26E4C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8D13B-2CEC-4834-AFDB-0B90B8DC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33117-B135-413D-BEA2-2B0B8A83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526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47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0507B-32B9-4B5B-855A-388FC5ED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Ticaret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9A1E5D-687C-4863-8AF2-71A7D2EA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Ürün, sepet, stok ve sipariş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F84BD-9482-4550-8293-70AF2ACA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76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1A728-CE37-4C4F-B98C-827F34C6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1526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B3271-D472-4068-B900-31EB9AB1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622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Üyelik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526C5-86A2-4E34-A389-11A2F66D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Sponsor bağlantısı ve lisans aktivasyonu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0F46F-1CCF-4497-B3D2-9B3B0256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76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7ECFF-8130-449F-81DE-124FA49F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526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D613F-1CFD-4C45-B200-2905B7C4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622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Kazanç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4B267-5714-4016-86D7-00DCBCEA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Unilevel, Matrix, ürün bonusu ve havuz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2C93CF-05B4-4D06-AC89-27B17302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2D75B1-338D-401A-B50A-0F37B9C9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A8620E-42DF-4BC4-BBB1-34D88A47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622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Finans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442D60-E846-4A4B-B0E8-928C4E9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Ödeme, fatura, cüzdan ve çekim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4E123F-BE7F-4E38-9C98-B4FB86A4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76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DF9FBB-8D51-4447-929A-3641A63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526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E2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61722-5871-4B3D-BA07-86068078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622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Yönetim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18AEAB-BC69-490E-B806-33C80BC3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5750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Admin ve Süper Admin kontrolü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8D05B5-53F7-49DA-8B88-F5893CC9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24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47B9"/>
                </a:solidFill>
              </a:defRPr>
            </a:pPr>
            <a:r>
              <a:rPr sz="1200" b="1">
                <a:solidFill>
                  <a:srgbClr val="1547B9"/>
                </a:solidFill>
              </a:rPr>
              <a:t>Ana fikir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3FCA9-5575-4347-9484-DBAC3C3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053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71A3C"/>
                </a:solidFill>
              </a:defRPr>
            </a:pPr>
            <a:r>
              <a:rPr sz="2175" b="1">
                <a:solidFill>
                  <a:srgbClr val="071A3C"/>
                </a:solidFill>
              </a:rPr>
              <a:t>Siparişin finansal durumu değiştiğinde stok, fatura ve uygun kazanç hareketleri aynı iş akışında izlenir.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4E7D85-8AD0-43BB-A6B9-0C1BA997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958887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66239B-CC75-4221-ABA4-BA1796AE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PLATFORM MIMARISI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1B3FF-4AAA-4BB2-9BAC-A8878267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FTSLine ekosistem haritası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40B51-79AE-416E-A826-0E3BA2DD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50FE2-8B4C-44A6-A2AB-44CCBEA3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38B22-E832-45B8-A188-96FDB310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84F50-78BC-4A2F-81CB-B14B2228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B8E8"/>
                </a:solidFill>
              </a:defRPr>
            </a:pPr>
            <a:r>
              <a:rPr sz="900" b="1">
                <a:solidFill>
                  <a:srgbClr val="34B8E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AB55E-A849-4A61-95FA-1223964E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Ziyaretçi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28988-6CC4-41F7-8DCB-ECBEBF61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710" y="19621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8DFA9-6A2A-453D-ABC1-34AA303A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1638300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31A74-A360-40AD-8824-AD2D93DC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1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80DA0B-9F24-47BE-AAB0-3D8E3E60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10" y="2019300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Kayıtlı kullanıcı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C54AF-DB23-4482-BA4F-887F3C5E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4420" y="19621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A539AB-E6F8-46C8-B017-636B1C87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638300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12E7C-8F4C-4A70-B401-07F88445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32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7AFB5A-F1E1-49D5-9C65-F421C16C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320" y="2019300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Lisanslı üye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561E6-8910-4F05-A5FB-5F132DD8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19621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EDD1E9-66B2-4495-BC7B-20C3638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1638300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5A485-E911-44D6-A252-EDD40ABF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66571-D1DF-4A8D-AECD-D70BF26C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019300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Lider / kariyer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47FEA-692D-49C2-AC31-EC2300D6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19621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D64447-F98B-4DB9-ADA1-6BD476CF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1638300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BF067D-EB58-4EF8-8DBF-81D72831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FC5939-9741-4A10-BD72-1554235A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2019300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Admin operasyonu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AEE95A-F5CB-416D-B49E-EAC40F8F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14700"/>
            <a:ext cx="2000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8C760D-2E4A-443F-BD47-671FB316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Katalog &amp; sepet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DF9CB-2DB0-4A67-8DD8-3B6D125D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Ürün seçimi, fiyat, stok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FCC485-DA88-4E35-A6AC-A71EB179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14700"/>
            <a:ext cx="2000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574A3E-04A6-4B17-8775-8C651471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Ağlar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F4E2E5-55F1-4D39-9888-532F15AE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57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Sponsor + Matrix yerleşimi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B90C19-20D2-4698-A868-D9C5BA94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14700"/>
            <a:ext cx="2000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596501-0C32-4C3B-824E-7072DC54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Kazanç defteri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DA92EE-4E98-4EC2-9FB6-D693431B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57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Her hak ediş ayrı işlem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C63961-F738-4C07-AFCF-796AA13A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2000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17656A-BD74-460C-B3CF-47351F8C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Finans merkezi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CF7CC3-55EA-43EE-8857-2E086FBE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57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Sipariş, fatura, ödeme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2C743E-17C2-44A7-8563-34949642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14700"/>
            <a:ext cx="2000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511BD3-8C36-4EA5-8A7A-7E57ECE0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43300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Cüzdan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D0A64D-7D20-4810-B0F2-9CFEB37A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57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Bakiye ve çekim talebi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79C0B1-5219-4114-B1D8-DCD75EE6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354337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379F54-3935-4DF8-AB67-A759B76B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KULLANICI YOLCULUĞU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ACC83-538E-4FA1-A67E-E70AE1CE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Kayıttan kazanca uçtan uca akış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7A91C-C52A-4951-946B-82FB1BA7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3A8EA-1139-4E9B-B139-DDC71403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D15A6-F1E7-49D5-B48E-5F0151D5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E28ED-221F-4708-A5F3-C51902A2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B8E8"/>
                </a:solidFill>
              </a:defRPr>
            </a:pPr>
            <a:r>
              <a:rPr sz="900" b="1">
                <a:solidFill>
                  <a:srgbClr val="34B8E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11ACE-7BDD-469A-8629-78C60819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Kayıt ve sponsor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68B6D-7A86-4CD1-B374-5966C3FB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625" y="201930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84E00-F11A-4425-8AA2-A6038522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25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C4BE4-6FB0-45A7-A14C-7E65D61B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525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0BB110-2C2C-4EAF-97E3-1AE8ABEF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525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Ürün / lisans seçimi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29A63-FD01-41C1-98C0-5210887B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201930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1A6F-8C68-4206-A657-946845BE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3CEEBC-8389-4190-8FAC-9AA3DC78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1350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074759-3FF6-4DC1-B15E-0087EA94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1350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Sipariş oluşturma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AB2F2-D583-4C2C-BDD9-6CEF23E3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01930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CD0FF-BCFA-4BDF-9413-E756783E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AD011-3DBA-45EF-A46B-9002AC30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4089C-0A02-470C-AB2C-78D75C70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Ödeme onayı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D1260B-53F2-4CFC-91D8-840DD5EA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100" y="201930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BDCE3F-146B-4217-B4E4-037A674E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25D69C-BD96-4D10-8BAA-5724EB19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73F7B7-D3A9-416E-81AF-8B66181A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Kazanç yansıması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82E258-C952-43E9-8274-0664B9EC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1930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FE3D3-144B-4C11-8FEC-C0D8DFFC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4425" y="169545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7EF941-C248-4752-820A-5E0146C6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6825" y="1809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430CD7-BD3A-4257-B177-6C54691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6825" y="207645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Çekim talebi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1ACFBD-104C-47D6-8FDD-16CEBE62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0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2F3DA-3461-444C-B570-414A53FB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1026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Lisans satın alımı üyeyi aktif lisanslı statüye geçirir ve uygun Matrix boşluğuna yerleştirir.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B750A8-66C1-471E-B41E-9473FA6D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95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BBA3A5-7F74-4B62-9A2F-BD8E1F51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1026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İlk lisans ödemesi Unilevel; sonraki aylık plan işleyişi Matrix kazancı üretir.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11CBAC-2BA1-4CB4-A769-AD45B3F2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91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EA604C-7171-48C9-BAC0-3DA3022E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026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Ürün siparişinde finite stok anında rezerve edilir; iptal/iade akışında geri yüklenir.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DE8660-0BC5-443E-B95A-B58E1F67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86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AE41DA-3895-4FF7-A279-088FCFBE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026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Ödendi + tamamlandı koşulu oluştuğunda ürün ağ bonusu cüzdana işlenir.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07F733-C5FF-4430-B692-53586489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81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9F547D-F21F-49FF-B9CF-F882F321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1026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5.000 TL ve üzeri kullanılabilir bakiye için çekim talebi açılabilir.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DD0A6B-6A5B-402E-A21B-8B86C13C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5502406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B65434-D849-4D8A-B407-23F38F64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ROLLER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7947-D7B1-4C61-A090-067A7173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Yetki modeli ve görünür alanlar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C6183-F1D8-48D5-8DAB-174E5A75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30AF0-665B-47DE-A649-4586964C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22F60-304C-4619-B67A-32AABAFB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811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Ziyaretçi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B7AC2-4462-4DCE-9F91-6CE6C405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28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6B4D5-7099-4DB1-86F6-1E0638D0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8115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Ürünler, kurumsal sayfalar, sepet, kayıt/giriş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3491F-7C18-4A6F-860B-667A31C4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Kullanıcı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8A31A4-56FD-458A-BD66-DFADBBBC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95575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FCB58-28F6-4BDE-825B-871BEE6B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4792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Siparişler, profil, SSS, ağ görünümü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3C1D8-82AC-44FF-8767-18A795E8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470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Lisanslı üye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4266A-A2F3-4664-80DB-8BF64AA9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623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EBAB7-7BD7-41BD-9669-84E70998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1470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Unilevel/Matrix yerleşimi, kazanç ve kariyer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0E686-4D4A-47A4-8DA5-29DC52BF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47B9"/>
                </a:solidFill>
              </a:defRPr>
            </a:pPr>
            <a:r>
              <a:rPr sz="1425" b="1">
                <a:solidFill>
                  <a:srgbClr val="1547B9"/>
                </a:solidFill>
              </a:rPr>
              <a:t>Admin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F45B8-B46B-4BCA-88AD-5D087546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29125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4AF96-5F73-419E-8D3C-878E059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814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Ürün, sipariş, ödeme, fatura ve kullanıcı operasyonu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B31A4-C88C-4E7A-8619-0278D4BD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47B9"/>
                </a:solidFill>
              </a:defRPr>
            </a:pPr>
            <a:r>
              <a:rPr sz="1425" b="1">
                <a:solidFill>
                  <a:srgbClr val="1547B9"/>
                </a:solidFill>
              </a:rPr>
              <a:t>Süper Admin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05242-709A-41C6-897F-F23E045B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959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7B5703-D8A7-40F5-ADC0-33A1C895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4825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Sistem geneli yönetim, roller ve finans merkezi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C1045D-818C-489C-A3B2-E875BF30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2478307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C013C-6F2A-42E0-91FB-8272D4C7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TICARET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1EB11-0991-4A14-9CD3-CBD52083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Fiyat ve müşteri segmentasyonu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F5EC8-4CB8-43C1-BAC8-7CA2676E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4ABA7-99BE-42FE-AD49-35FE6F8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1D6AA-C886-4719-9135-7B3C1B02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2768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278C1-E294-4650-BD8E-D6EB36B5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Normal fiyat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63A79-8CAD-451D-B826-9E82BAA8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428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5FF"/>
                </a:solidFill>
              </a:defRPr>
            </a:pPr>
            <a:r>
              <a:rPr sz="1350" b="0">
                <a:solidFill>
                  <a:srgbClr val="D7E5FF"/>
                </a:solidFill>
              </a:rPr>
              <a:t>Lisanssız veya normal fiyatla alışveriş yapan müşteriye gösterilen liste fiyatı.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8B38E-5945-4F52-AFEC-4DC59CC5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4B8E8"/>
                </a:solidFill>
              </a:defRPr>
            </a:pPr>
            <a:r>
              <a:rPr sz="1050" b="1">
                <a:solidFill>
                  <a:srgbClr val="34B8E8"/>
                </a:solidFill>
              </a:rPr>
              <a:t>Ağ matrahı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1CE35-DAF4-4CAC-B771-8205E72B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Normal fiyat − lisanslı fiyat farkı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F99D0-8EF1-40AD-94B9-138C3752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19250"/>
            <a:ext cx="56388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9F723-FDCA-42C5-A24F-432136A1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Lisanslı fiyat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61A89-A51F-4EF2-BEA7-06AA1DA8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76500"/>
            <a:ext cx="4524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6"/>
                </a:solidFill>
              </a:defRPr>
            </a:pPr>
            <a:r>
              <a:rPr sz="1350" b="0">
                <a:solidFill>
                  <a:srgbClr val="526176"/>
                </a:solidFill>
              </a:rPr>
              <a:t>Aktif lisanslı üyeye tanımlanan avantajlı satın alma fiyatı.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3F539-03EA-4382-8AF5-016CADC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62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Dağıtım matrahı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05A3E-C433-48E5-BC08-E554E70E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İndirimli siparişin ürün toplamı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2F4EB-B9C8-40E4-B459-C08EDC7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8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3535"/>
                </a:solidFill>
              </a:defRPr>
            </a:pPr>
            <a:r>
              <a:rPr sz="1500" b="1">
                <a:solidFill>
                  <a:srgbClr val="C73535"/>
                </a:solidFill>
              </a:rPr>
              <a:t>Eğitim/lisans paketleri ürün satış bonusundan ayrıdır; kendi Unilevel–Matrix kuralları korunur.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DD1CE5-67B1-40DF-BCCE-D0BAC747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20570445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740ADF-C7C8-4052-A1A6-7E7809C0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LISANS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80B3B-4BA8-4D6D-BB84-90B513D6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Üç plan, tek aktivasyon omurgası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33F04-AE13-4C98-9322-59253F5B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2F86C-7FD7-4C66-AAD0-158DA164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A5B98-CBA7-4100-9D38-AB4D4828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3429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53F8E-F075-4955-9B64-4270C429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81509-5504-4DBE-8AC3-7A30EE4C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0500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Başlangıç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9F887-9943-4863-80F0-FBFE8B91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71A3C"/>
                </a:solidFill>
              </a:defRPr>
            </a:pPr>
            <a:r>
              <a:rPr sz="2325" b="1">
                <a:solidFill>
                  <a:srgbClr val="071A3C"/>
                </a:solidFill>
              </a:rPr>
              <a:t>74,99 USDT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C947C-CAD2-4558-BF6A-F6D686D2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1 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E3BF0-CEBA-461D-BD44-F44D6830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48D7F-A395-4507-95D1-D3F4B235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97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 Matrix ayı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CFA41-78F9-4C15-A1EA-F8EB3707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İlk aktivasyon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5C81EB-9888-41E5-B625-3077F2D7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57350"/>
            <a:ext cx="3429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1547B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CCAFE-0CF3-4EEA-9CBD-00AF1C4C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885950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547B9"/>
          </a:solidFill>
          <a:ln xmlns:a="http://schemas.openxmlformats.org/drawingml/2006/main" w="9525">
            <a:solidFill>
              <a:srgbClr val="1547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14815F-A269-4A92-9A97-0ACEC15A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190500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 Yıllık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6DC30-E960-442F-8A98-50CF437C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479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71A3C"/>
                </a:solidFill>
              </a:defRPr>
            </a:pPr>
            <a:r>
              <a:rPr sz="2325" b="1">
                <a:solidFill>
                  <a:srgbClr val="071A3C"/>
                </a:solidFill>
              </a:rPr>
              <a:t>210 USDT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2CECA-341F-4425-9303-5D36F457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051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12 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E9E05-03F0-4F19-B4C4-5DD00BFD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004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E44E49-54CE-4E65-B4B0-093111CC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19525"/>
            <a:ext cx="297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11 Matrix ayı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FA9F2D-2138-46F4-B428-AF251049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3434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Aylık işleyiş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451556-60FD-4EB7-8D5F-5FEBE036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57350"/>
            <a:ext cx="3429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A6C36F-0B78-4FEC-B331-B432A68A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13BAD-B455-41A1-BC69-707D7969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0500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2 Yıllık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AC0E93-BFD1-4BB7-8218-D87AFF52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479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71A3C"/>
                </a:solidFill>
              </a:defRPr>
            </a:pPr>
            <a:r>
              <a:rPr sz="2325" b="1">
                <a:solidFill>
                  <a:srgbClr val="071A3C"/>
                </a:solidFill>
              </a:rPr>
              <a:t>360 USDT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9AFFF8-3179-4ACF-AE40-6328C525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051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24 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4A42FB-D35D-4E28-B95B-2FF98853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004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234268-529F-4E0A-8390-7F98F331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19525"/>
            <a:ext cx="297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23 Matrix ayı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D921FF-B5CA-45B5-8786-365B71DC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434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Aylık işleyiş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DD08F7-C40F-4B26-B675-EF9B626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721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İlk ay: 3.599 TL Unilevel matrahı • Sonraki aylar: 799 TL aylık Pro üzerinden Matrix %3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A951C8-6A68-4F14-BB1F-B9A5E44A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3412188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AA55E-FDF2-436B-B64F-70F42899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KAZANÇ MOTORU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9C379-2191-4400-9678-A7424123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Dört ayrı gelir kaynağı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CC94F-F377-4DD3-B666-E92878CB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86D86-7077-4191-93FF-51CA2FF1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D3664-2802-488E-AB90-8267ADF5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88DC4-37A1-4D97-A054-5495C8D4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5716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1A3C"/>
                </a:solidFill>
              </a:defRPr>
            </a:pPr>
            <a:r>
              <a:rPr sz="1725" b="1">
                <a:solidFill>
                  <a:srgbClr val="071A3C"/>
                </a:solidFill>
              </a:rPr>
              <a:t>Unilevel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9C0BC-B2E0-45E8-BABB-8E6B9343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716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6"/>
                </a:solidFill>
              </a:defRPr>
            </a:pPr>
            <a:r>
              <a:rPr sz="1350" b="0">
                <a:solidFill>
                  <a:srgbClr val="526176"/>
                </a:solidFill>
              </a:rPr>
              <a:t>İlk lisans ödemesi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3B5CD-CE76-46AA-BDD3-7D41F9A3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F9F62"/>
                </a:solidFill>
              </a:defRPr>
            </a:pPr>
            <a:r>
              <a:rPr sz="1350" b="1">
                <a:solidFill>
                  <a:srgbClr val="0F9F62"/>
                </a:solidFill>
              </a:rPr>
              <a:t>10 seviyeye kadar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61E61-84C0-471D-A046-C606757F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05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F3E5B-3BC4-4753-B6C7-B048950A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384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5B426-8FED-45B4-8F08-93193FCA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384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1A3C"/>
                </a:solidFill>
              </a:defRPr>
            </a:pPr>
            <a:r>
              <a:rPr sz="1725" b="1">
                <a:solidFill>
                  <a:srgbClr val="071A3C"/>
                </a:solidFill>
              </a:rPr>
              <a:t>Matrix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06BAA-CB6C-4F3D-9716-FB7C9827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384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6"/>
                </a:solidFill>
              </a:defRPr>
            </a:pPr>
            <a:r>
              <a:rPr sz="1350" b="0">
                <a:solidFill>
                  <a:srgbClr val="526176"/>
                </a:solidFill>
              </a:rPr>
              <a:t>Aylık Pro kullanımı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B1D67-B1BB-4D0B-A6F8-33883351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384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F9F62"/>
                </a:solidFill>
              </a:defRPr>
            </a:pPr>
            <a:r>
              <a:rPr sz="1350" b="1">
                <a:solidFill>
                  <a:srgbClr val="0F9F62"/>
                </a:solidFill>
              </a:rPr>
              <a:t>12–15 derinlik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B6CD9-A694-4F51-9C67-CD3F943C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718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DE5ECF-7179-4BB5-8034-305FB47B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CA24B-CB25-40C6-A580-F7199BA7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052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1A3C"/>
                </a:solidFill>
              </a:defRPr>
            </a:pPr>
            <a:r>
              <a:rPr sz="1725" b="1">
                <a:solidFill>
                  <a:srgbClr val="071A3C"/>
                </a:solidFill>
              </a:rPr>
              <a:t>Ürün ağı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4A144A-F491-436D-8301-71209CD1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052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6"/>
                </a:solidFill>
              </a:defRPr>
            </a:pPr>
            <a:r>
              <a:rPr sz="1350" b="0">
                <a:solidFill>
                  <a:srgbClr val="526176"/>
                </a:solidFill>
              </a:rPr>
              <a:t>Normal / indirimli satış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0E0A4F-312A-42D8-BEC4-5D028A91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052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F9F62"/>
                </a:solidFill>
              </a:defRPr>
            </a:pPr>
            <a:r>
              <a:rPr sz="1350" b="1">
                <a:solidFill>
                  <a:srgbClr val="0F9F62"/>
                </a:solidFill>
              </a:rPr>
              <a:t>10 seviyeye kadar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0714BB-499D-4A41-921A-5841814B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E42E5A-1A53-4D9E-B05B-2177ACEF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720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47B9"/>
                </a:solidFill>
              </a:defRPr>
            </a:pPr>
            <a:r>
              <a:rPr sz="21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A7029F-52BF-461D-A1DB-95CE0ECF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720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1A3C"/>
                </a:solidFill>
              </a:defRPr>
            </a:pPr>
            <a:r>
              <a:rPr sz="1725" b="1">
                <a:solidFill>
                  <a:srgbClr val="071A3C"/>
                </a:solidFill>
              </a:rPr>
              <a:t>Kariyer havuzu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51ED1-EBDC-4781-A0A6-D85A71D5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720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6"/>
                </a:solidFill>
              </a:defRPr>
            </a:pPr>
            <a:r>
              <a:rPr sz="1350" b="0">
                <a:solidFill>
                  <a:srgbClr val="526176"/>
                </a:solidFill>
              </a:rPr>
              <a:t>Şirket kârı paylaşımı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1748DA-65B0-4C67-848C-FC7E701B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20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9116"/>
                </a:solidFill>
              </a:defRPr>
            </a:pPr>
            <a:r>
              <a:rPr sz="1350" b="1">
                <a:solidFill>
                  <a:srgbClr val="C89116"/>
                </a:solidFill>
              </a:rPr>
              <a:t>%2 / %10 / %2,5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EF051B-166B-46DB-9B98-9B16AEFD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054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B19214-E129-49B9-8572-B01D5552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0801421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40B4D7-0D1D-49FC-9B9C-EA9157E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UNILEVEL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2AA64-7D48-42EC-A0D3-14120856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İlk lisans kazancının çalışma mantığı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037D9-6E85-4214-8C5A-B4D6DE59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36F9C-C370-4048-BB92-983125F8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AFF05-554B-485A-88E7-74A623E8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002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47B9"/>
                </a:solidFill>
              </a:defRPr>
            </a:pPr>
            <a:r>
              <a:rPr sz="2550" b="1">
                <a:solidFill>
                  <a:srgbClr val="1547B9"/>
                </a:solidFill>
              </a:rPr>
              <a:t>3.599 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FE034-578C-43AB-8687-0CA8491B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145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Dağıtım matrahı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7E996-647C-474E-ABD7-87927373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002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47B9"/>
                </a:solidFill>
              </a:defRPr>
            </a:pPr>
            <a:r>
              <a:rPr sz="2550" b="1">
                <a:solidFill>
                  <a:srgbClr val="1547B9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71634-5832-4A3C-BD69-4B9C67F7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14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Maksimum derinlik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93C9A1-4957-4E0D-ABB7-63CD64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002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9F62"/>
                </a:solidFill>
              </a:defRPr>
            </a:pPr>
            <a:r>
              <a:rPr sz="2550" b="1">
                <a:solidFill>
                  <a:srgbClr val="0F9F62"/>
                </a:solidFill>
              </a:rPr>
              <a:t>%77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072CA-0EEF-451C-B523-5ADF6A33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145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Tüm 10 seviye açıksa toplam oran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FB03E-5EAA-4AF7-B9A0-4B3E2410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0020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89116"/>
                </a:solidFill>
              </a:defRPr>
            </a:pPr>
            <a:r>
              <a:rPr sz="2550" b="1">
                <a:solidFill>
                  <a:srgbClr val="C89116"/>
                </a:solidFill>
              </a:rPr>
              <a:t>1 kez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838CE3-ABD8-45E1-A8E6-B37641A5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145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Kişi başına ilk lisans tetikleyicisi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22042-87F1-4CF7-B7C8-38A78C3E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8F9EB-C93F-4EF3-B3F2-1C316821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8706F-F323-464A-9C1E-809C7A1C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10267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Dağıtım sponsor zincirinde yukarı doğru ilerler.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2B8D77-6ADE-4B4D-98C9-2E7BB266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49C285-13EE-46C2-ABDD-D2DEB5F6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38575"/>
            <a:ext cx="10267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Her üst üye yalnızca kariyerinin açtığı derinlik kadar hak kazanır.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42417-FDA2-43AA-8DD9-9614AA3E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CC206-69D5-40AB-8A6B-10B5AC69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267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Hak sahibi aktif ve lisanslı olmalıdır; lisans süresi geçmişse ödeme oluşmaz.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89B17-2226-4937-B3F9-CEBBF166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ACFA9-32F5-45FD-88FE-71545136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43475"/>
            <a:ext cx="10267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Aynı kaynak kullanıcı–seviye için tekrar ödeme engellenir ve işlem defterine yazılır.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3A31FC-8118-4D88-97E1-429B5CAF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20548821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7121B84-3F4C-49C1-9FB2-FF871B7A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UNILEVEL ORANLARI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5174D-7E85-4A0F-8847-02ED6B61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3.599 TL matrah üzerinden seviye bazlı dağıtım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2A2B6-58F6-40C0-BBF1-8892D98C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44360-AF8E-456F-B25B-27199B31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3C464-1248-44F8-840F-131321BD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1.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748F1-0BDC-43F8-91C9-6338DFAA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573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088EB-ADFE-44FB-BC87-C21C55CA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573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47B9"/>
          </a:solidFill>
          <a:ln xmlns:a="http://schemas.openxmlformats.org/drawingml/2006/main" w="9525">
            <a:solidFill>
              <a:srgbClr val="1547B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96007-562A-40B8-A0F4-A10B523A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D03C1-6140-4941-A8E2-880FBB5B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192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1.799,50 TL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DFF07-DBFB-4701-BE55-E6EFC778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80A32-FB63-4F45-90BD-F431CB1B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9550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E1C01-26B7-4242-87C2-9B2157D2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95500"/>
            <a:ext cx="14478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B625E-9AB1-4102-89C7-8D8D50A6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5740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B7B109-290D-44F1-BC87-12CA2054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57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359,90 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E5F7F-3E80-48C1-B149-02C676A4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3.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C0048-7F9E-4D5E-BA5E-056899E4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336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FA780-3AAC-4AAA-A1BE-71CFE3F2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33650"/>
            <a:ext cx="7239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30945-2164-415F-BC34-6C39099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9555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E82F82-18F0-44EB-83B1-41227FE4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955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179,95 TL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27EC4-6663-40B4-8161-E3521134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337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4.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6ABB9-DFF7-491B-B1C9-2FCD5B49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89E2F2-C097-41F8-954E-50BED2DC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43434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B84595-4FE9-40DF-8B20-C72EBB0B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174A52-1C95-4502-A59E-6DE6FD7E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337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107,97 TL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774E40-E770-4277-B529-8379087F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5.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94914-7CAB-43F9-97AC-AC030622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EB5E4A-FA6B-4D83-8D70-CE0B47AA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28956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D2D42D-BF18-4575-9941-FBDCE8A9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7185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B9EECB-F2FD-41C3-BC6A-9AB9358F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718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71,98 TL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13D6E8-317E-47D2-B8B9-475B5F68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6.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08E94A-356B-4FB4-B991-F6871EE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B8C89C-466C-46D7-B8DF-E9F63B67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28956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979F96-4313-4996-849B-EFC2CB77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77D5A8-E31D-4225-A94C-92467751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00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71,98 TL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E79DA6-9BB8-4ED9-84B4-3B8BF1E1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7.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EF08CE-7F9B-4489-93C4-FAAB88C8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ADCB6B-2404-438F-BDA7-12637EE7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28956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4E522D-5B56-4D76-83E3-B83FE055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4815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F429D1-AE6C-4FBA-B75D-328D96A1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481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71,98 TL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CC3272-F1F8-4A5A-8C7D-C7A6152A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8.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EDDCF1-A55B-49E8-9646-0A9DB58B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A6E854-5F0E-41B7-B7F9-6CF9BF10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4478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227DBE-D725-4EBE-877C-03E7D6DD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8630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EC7AE1-1A41-4408-958A-E93255E5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863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35,99 TL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C069ED-57A9-4D9A-A705-A02603B2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9.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8DC276-DC45-4DAF-9249-B2646E6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6255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72CA1D-4483-4065-8107-1B2CC73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62550"/>
            <a:ext cx="14478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1BDEDB-E9AE-470E-A6E0-F396A6E9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2445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D412E7-E73F-4C92-B603-1DB6E858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1244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35,99 TL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97A0D3-DCB4-4D81-9661-CC8B660E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626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176"/>
                </a:solidFill>
              </a:defRPr>
            </a:pPr>
            <a:r>
              <a:rPr sz="1125" b="1">
                <a:solidFill>
                  <a:srgbClr val="526176"/>
                </a:solidFill>
              </a:rPr>
              <a:t>10.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A1073E-0756-4B54-BF31-FA36757E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00700"/>
            <a:ext cx="7239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6673FBE-53C5-4DCE-B956-0FEB8356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00700"/>
            <a:ext cx="14478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B8E8"/>
          </a:solidFill>
          <a:ln xmlns:a="http://schemas.openxmlformats.org/drawingml/2006/main" w="9525">
            <a:solidFill>
              <a:srgbClr val="34B8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50D389-8635-463E-A053-8E4BFFD4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562600"/>
            <a:ext cx="809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%1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128DEE6-5FDD-4F70-86AD-6BBA06F9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626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F9F62"/>
                </a:solidFill>
              </a:defRPr>
            </a:pPr>
            <a:r>
              <a:rPr sz="1275" b="1">
                <a:solidFill>
                  <a:srgbClr val="0F9F62"/>
                </a:solidFill>
              </a:rPr>
              <a:t>35,99 TL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BB13A8-5047-425F-8466-7737AE14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2781854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A57F35-EB14-4067-8E44-97AB6C2B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KARIYER ANAHTARI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FBC81-E486-417C-A67C-B37553B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Unilevel ve ürün ağı için açılan derinlik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B7510-DEA2-4B4B-9DBE-72E3B3C4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23FE9-7EBB-4887-BFA7-3C0B21E7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A307A-6952-42EF-85BA-09D9C434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547B9"/>
                </a:solidFill>
              </a:defRPr>
            </a:pPr>
            <a:r>
              <a:rPr sz="3300" b="1">
                <a:solidFill>
                  <a:srgbClr val="1547B9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823AC-EA1F-4745-80ED-890E45D5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4B8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298F1-B7F7-42AE-BD87-8610F188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Başlangıç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B46E4-6993-4EBB-A4B6-16A122E6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547B9"/>
                </a:solidFill>
              </a:defRPr>
            </a:pPr>
            <a:r>
              <a:rPr sz="3300" b="1">
                <a:solidFill>
                  <a:srgbClr val="1547B9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04802-A340-43F5-8EA8-73580561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4B8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C8D6F-9882-405E-BDE4-DB25C4AA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Bronz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76D9C-FAAE-4B6D-8E66-F4B2108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547B9"/>
                </a:solidFill>
              </a:defRPr>
            </a:pPr>
            <a:r>
              <a:rPr sz="3300" b="1">
                <a:solidFill>
                  <a:srgbClr val="1547B9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2CD0D-1A86-4B49-847C-C8B07700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4B8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BA8AA-158B-4DF7-969E-69784871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Gümüş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EBB0F-636E-48CA-AB1A-D9FA4512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71A3C"/>
                </a:solidFill>
              </a:defRPr>
            </a:pPr>
            <a:r>
              <a:rPr sz="3300" b="1">
                <a:solidFill>
                  <a:srgbClr val="071A3C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F6520-0E96-45F2-AE0F-01449259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891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7FD3CA-3A40-4306-8E66-7BFACFB0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Altın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B7096-5722-44CC-B4C3-8A0A14EB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71A3C"/>
                </a:solidFill>
              </a:defRPr>
            </a:pPr>
            <a:r>
              <a:rPr sz="3300" b="1">
                <a:solidFill>
                  <a:srgbClr val="071A3C"/>
                </a:solidFill>
              </a:rPr>
              <a:t>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0138D9-6A65-400E-8C00-CCAFADF3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891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1E6A2-1261-4E44-9780-3AACF793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Platin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E3DE3-EB44-49C8-B77A-3CC4DF9D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71A3C"/>
                </a:solidFill>
              </a:defRPr>
            </a:pPr>
            <a:r>
              <a:rPr sz="3300" b="1">
                <a:solidFill>
                  <a:srgbClr val="071A3C"/>
                </a:solidFill>
              </a:rPr>
              <a:t>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54951C-9BD9-4DCB-A0BC-05697E85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891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905CAE-D1A6-4E3A-B84F-3C2C078F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Elmas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B24B5E-7E05-4951-BF51-C0A3672D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62125"/>
            <a:ext cx="1352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71A3C"/>
                </a:solidFill>
              </a:defRPr>
            </a:pPr>
            <a:r>
              <a:rPr sz="3300" b="1">
                <a:solidFill>
                  <a:srgbClr val="071A3C"/>
                </a:solidFill>
              </a:rPr>
              <a:t>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AA4B-B103-4DF8-AC90-7CE04BE4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686050"/>
            <a:ext cx="100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8911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575216-72A0-4785-89D4-DFC3EBBC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95275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Taç Elmas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899CDC-EE83-4BEA-B95A-52D2B1AE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Örnek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EE702-C9B7-4235-9CE9-6B5E8EB4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1A3C"/>
                </a:solidFill>
              </a:defRPr>
            </a:pPr>
            <a:r>
              <a:rPr sz="2025" b="1">
                <a:solidFill>
                  <a:srgbClr val="071A3C"/>
                </a:solidFill>
              </a:rPr>
              <a:t>Kariyersiz üye 1. seviyeyi; Bronz üye 1–2. seviyeleri; Platin üye 1–7. seviyeleri alabilir.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3F0DEF-4FB2-4C2D-B810-97BDC8FE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816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3535"/>
                </a:solidFill>
              </a:defRPr>
            </a:pPr>
            <a:r>
              <a:rPr sz="1425" b="1">
                <a:solidFill>
                  <a:srgbClr val="C73535"/>
                </a:solidFill>
              </a:rPr>
              <a:t>Atlanan seviye şirkette kalır; alt veya üst seviyeye aktarılmaz.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42CE22-BAAA-49D5-91F6-8EC574C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6892750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F11E4B-1CF5-4D0D-9517-EEB82E0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B4A17-189B-4FB7-BEF2-6C78337F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Lisansla başlayan 2 kollu yerleşim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1F961-B025-4936-B491-2B703F46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D2E18-5EBF-48C7-8044-6AE400CE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1B690-27FE-43AA-BEF7-CFE82841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5716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Sponsor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F0D1F-AD0D-4DD6-8C67-3CECA825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571625"/>
            <a:ext cx="18097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8CCC44-57D7-4D63-BF4B-A1B64561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6225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A6C3B-8081-4DB3-8D5A-8AB99DC1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62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1. kat /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1020C-33B8-4DFD-BAA7-D29C1E60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6225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DBF84-E606-4C91-901E-4FED79C2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6225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1. kat /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23B6F-5DE1-4267-8CC4-587D5246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CFFF5-8661-4062-BF5F-D0D49A4B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2. kat /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95059-DE7B-457B-9D85-06228F1C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0050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709EA-46E6-4A6D-9C40-82FC49E1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0050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2. kat /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E5B02-1B0B-479D-B660-F693E0E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922AD7-C738-453C-B658-BECBB879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2. kat /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78C742-778E-4861-B7BD-EC8AE057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00500"/>
            <a:ext cx="138112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B6E31-64D3-4E77-8D83-A7AD302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00500"/>
            <a:ext cx="138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2. kat /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E60167-613F-4EDC-9F54-86066F1F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28825"/>
            <a:ext cx="1685925" cy="733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4DD33-F59A-4FF9-AEED-CD74C6C0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28825"/>
            <a:ext cx="1257300" cy="733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2E89E2-289A-4834-90D4-454F12BD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14700"/>
            <a:ext cx="114300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F7F8D6-72DF-4D19-A643-0F2841E2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14700"/>
            <a:ext cx="809625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A5F2D6-33D9-4241-83A1-E4F01001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14700"/>
            <a:ext cx="38100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0EB463-2BC6-4819-B981-87D55B6C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14700"/>
            <a:ext cx="1571625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62073B-B204-45B2-A92D-26260A0A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Yerleşim koşulu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B0CA49-B79F-4930-90AB-8D9C7779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81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Kullanıcının ağaçta görünmesi için lisans paketi alması gerekir; kayıt tek başına Matrix yerleşimi oluşturmaz.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34CDCA-8453-4351-A479-AD0D50FD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441367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CAC595-0217-4E01-ADA7-0E47361E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MATRIX KAZANCI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217F7-2950-41E9-821A-EF1D0DD0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Aylık Pro ödemesinin kariyer ağında dağıtımı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EB749-2703-451C-BDC1-11809556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639F4-B368-4A15-9190-6C77C17F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223BD-514E-49A1-9BB4-8A7500C3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3143250" cy="3619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21A30-FD01-47B4-9C62-365496D2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799 TL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A5DE7-39E3-4965-BEFD-685C1D91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193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E5FF"/>
                </a:solidFill>
              </a:defRPr>
            </a:pPr>
            <a:r>
              <a:rPr sz="1275" b="0">
                <a:solidFill>
                  <a:srgbClr val="D7E5FF"/>
                </a:solidFill>
              </a:rPr>
              <a:t>Aylık Pro matrahı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79967-562B-4FB3-A126-DE4D2AA7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BCBE4-DCFF-48B6-84F5-6B94B37C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B8E8"/>
                </a:solidFill>
              </a:defRPr>
            </a:pPr>
            <a:r>
              <a:rPr sz="2550" b="1">
                <a:solidFill>
                  <a:srgbClr val="34B8E8"/>
                </a:solidFill>
              </a:rPr>
              <a:t>23,97 TL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A6791C-0FC4-40F4-8F83-AEFFD60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Her uygun Matrix üstüne %3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DC11C-4FF1-4F4B-A20F-7832600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145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A3C"/>
                </a:solidFill>
              </a:defRPr>
            </a:pPr>
            <a:r>
              <a:rPr sz="1500" b="1">
                <a:solidFill>
                  <a:srgbClr val="071A3C"/>
                </a:solidFill>
              </a:rPr>
              <a:t>Başlangıç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9B58A-D807-4F6F-91C6-FE209C59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E3A43-59A8-4164-8448-93212205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145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12 seviye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9B65D-C63E-4DC3-991C-8B42A2E0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5908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A3C"/>
                </a:solidFill>
              </a:defRPr>
            </a:pPr>
            <a:r>
              <a:rPr sz="1500" b="1">
                <a:solidFill>
                  <a:srgbClr val="071A3C"/>
                </a:solidFill>
              </a:rPr>
              <a:t>Bronz / Gümüş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DA2F1C-F9CA-4CAB-BEFD-BE540A20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FAC53A-5D58-4F06-AD6D-90525F6D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908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13 seviye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A8636-550A-4143-9524-52BA4E0E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4671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A3C"/>
                </a:solidFill>
              </a:defRPr>
            </a:pPr>
            <a:r>
              <a:rPr sz="1500" b="1">
                <a:solidFill>
                  <a:srgbClr val="071A3C"/>
                </a:solidFill>
              </a:rPr>
              <a:t>Altın / Platin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EE85CB-3098-4E09-A2C8-9AA86659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2F4204-4368-499C-93BA-82F25609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671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14 seviye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664EA-2BF2-4629-8C6F-A5FCF8A3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43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A3C"/>
                </a:solidFill>
              </a:defRPr>
            </a:pPr>
            <a:r>
              <a:rPr sz="1500" b="1">
                <a:solidFill>
                  <a:srgbClr val="071A3C"/>
                </a:solidFill>
              </a:rPr>
              <a:t>Elmas / Taç Elmas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A0AB00-BD38-4443-AF42-0E866641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529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69227A-357D-4799-8E4F-9BA44D63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434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15 seviye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235C8-B95E-4A9C-BADF-1BA7D04C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391150"/>
            <a:ext cx="6905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3535"/>
                </a:solidFill>
              </a:defRPr>
            </a:pPr>
            <a:r>
              <a:rPr sz="1350" b="1">
                <a:solidFill>
                  <a:srgbClr val="C73535"/>
                </a:solidFill>
              </a:rPr>
              <a:t>İlk ay Matrix ödeme yoktur; yıllık planda 11, iki yıllık planda 23 aylık Matrix çalışması planlanır.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AB5831-1FDB-4799-B631-A858E54A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064240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6E6780-F68B-4F4D-ACD8-E790B978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KARIYER PLANI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37083-BF2E-4BDB-94E6-52BA1838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Seviye yükselme şartları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5CCF53-E20A-43C6-ADCC-60AB88B4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EF43B-10B5-4825-B707-5CC40893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B7915-95D7-4311-8070-DF6BE439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66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Kariyer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0D529-9901-439C-AC9E-4E79F987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668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Ana koşul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6650D-AFE9-4861-996A-19109733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66850"/>
            <a:ext cx="417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Alternatif / denge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B20BD-FAB8-47CC-8C2A-2FDD00C5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859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1A3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E21DE-BFC8-4E95-A960-872A72D8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47875"/>
            <a:ext cx="112014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C1042-4E50-47FC-97F8-2A7F2DE7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Bronz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2BC78-A36D-4B84-8A19-F67A8A58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955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2 kişisel aktif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AA09F-A0A7-459B-B0B7-39D69CE8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FC623F-17DB-4F88-8153-1885F5DF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Gümüş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857966-4389-4CA5-B504-787C7CCE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10 kişisel + 20 toplam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075DE-61E7-4B4D-8D34-D1D384B9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622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veya 3 Bronz kol + 20 toplam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167806-2A02-44F7-B63A-1BB77127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81375"/>
            <a:ext cx="112014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B09E30-0515-4C9C-B875-17CCE41E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Altın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01B47A-D891-4643-9869-7AEA85E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30 kişisel + 100 toplam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AD9428-9A5A-40AA-8CFA-68B7FBEB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29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veya 3 Gümüş kol / dengeli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8F0057-3EDF-47CF-878E-2CE62F84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Platin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32E7B-84D1-44E4-A76F-9D5E7A06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100 kişisel + 500 toplam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6293AA-E805-413C-B8BB-D3B0CD1F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957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veya 3 Altın kol / dengeli 500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7DCC3F-B3EB-4338-A979-30E72C6D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14875"/>
            <a:ext cx="112014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9C5CC9-B31C-4E33-9D35-A54F27BE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Elmas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F3CE9C-97AD-444C-AB22-C884016E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625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2.400 dengeli toplam üye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9530E-E4D4-429D-BF35-9826C55C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625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3 Platin kol; kol başı max 600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23FB9E-E1AF-41D8-8FB5-481EDBF5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A3C"/>
                </a:solidFill>
              </a:defRPr>
            </a:pPr>
            <a:r>
              <a:rPr sz="1275" b="1">
                <a:solidFill>
                  <a:srgbClr val="071A3C"/>
                </a:solidFill>
              </a:rPr>
              <a:t>Taç Elmas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BAC1D6-F544-4F57-9FED-405995B4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4292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50.000 dengeli toplam üye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2A38D7-9A9F-480F-ACCF-72D81125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4292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5 ayrı kol; her biri ≥10.000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15F796-2DD6-4F88-8AEF-4AE9C687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333376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EC888D-FC88-4AAC-98A7-1196893A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ÜRÜN AĞI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DB3D5-14B2-4EA2-83A8-5855947B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Normal fiyatla satış: fiyat farkının %50’si dağıtılır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E9253-02B4-490F-AC0D-7FD98A99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66754-47F7-49FB-91BA-96152D7B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AFAA5-2725-48C4-AA71-85E55AB1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Matrah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041FA-7414-4F35-BD8F-57A0D292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621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1A3C"/>
                </a:solidFill>
              </a:defRPr>
            </a:pPr>
            <a:r>
              <a:rPr sz="2025" b="1">
                <a:solidFill>
                  <a:srgbClr val="071A3C"/>
                </a:solidFill>
              </a:rPr>
              <a:t>Normal fiyat − lisanslı fiyat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D51D7-AA74-4748-822B-B6D728A7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DEFA6-C06D-46B6-A851-0C800B32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4B8E8"/>
                </a:solidFill>
              </a:defRPr>
            </a:pPr>
            <a:r>
              <a:rPr sz="975" b="1">
                <a:solidFill>
                  <a:srgbClr val="34B8E8"/>
                </a:solidFill>
              </a:rPr>
              <a:t>1. seviye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83389-056E-46F6-BD93-C116FA14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%25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730D1-CDA4-430D-8451-08523A3A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3BD8D-80B4-4E7D-9109-82D6F342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2. seviye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EFC42-5D39-40D7-A078-5F6F890E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86AFB6-DCB5-405F-A5D9-1BE6C3D9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A0F84-E201-4015-85B4-0B378AAC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3. seviye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C945F-E03B-4025-9440-010AE153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7A5AC-8C73-40AF-BEB0-7BD02B34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C6F486-DD87-461E-8A31-33108513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4. seviye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0B4C2-1369-4E8C-BA3E-62B6BDDF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%3,75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93B566-0EA7-499C-823D-E303882D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0D80E-9C10-4699-9243-10E509F7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5. seviye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46665-0783-4265-8FE9-125D4CD5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%2,5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1721E-5BEE-4C54-8477-361A6866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D4C1B5-4380-4889-B2B3-67B23C2E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6. seviye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814049-9695-4FE8-9B53-8AABCB37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%2,5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9AE337-1D2D-43D4-B15E-9C8E1785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8E15D3-D384-4AF5-99F7-78345A95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7. seviye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5A4D62-B04B-4316-B273-7AFD4063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%2,5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293CF5-3F02-428C-8A08-70CB1548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AAD349-4730-41C8-B5EE-790B33F7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8. seviye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02F96B-F64B-406A-9DA3-7FB76F90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%1,25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FF53FB-015F-4635-92F3-BEDC30DB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579279-3813-4753-9868-592DD54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9. seviye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0B8829-814F-4C40-969C-FF07AB2F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%1,25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E3654D-2E19-4C74-9A0C-D6FE62A9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8DA66A-FC64-4696-AFEF-90E4A8CE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10. seviye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02104E-7387-46C2-AA45-05DB39AD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%1,25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879BAC-D2D1-47BA-985F-072567BD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721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9F62"/>
                </a:solidFill>
              </a:defRPr>
            </a:pPr>
            <a:r>
              <a:rPr sz="1800" b="1">
                <a:solidFill>
                  <a:srgbClr val="0F9F62"/>
                </a:solidFill>
              </a:rPr>
              <a:t>%50 ağ dağıtımı • %50 şirket payı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46995E-47CE-4677-960B-D4B0B07F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3625326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FEA68-ECA6-45F9-AB28-C3C03234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ÜRÜN AĞI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6BCDC-519B-49A9-B0FB-0C7181DF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Lisanslı indirimli satış: sipariş toplamının %10’u dağıtılır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FCAF4-1DDE-4592-BBC7-864F6910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CDB5D-6464-4069-86DF-40E5E450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72A4F-E7B1-45A6-A8A3-4ABDD554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Matrah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C947B-E119-4EF7-A572-59F841C6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621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1A3C"/>
                </a:solidFill>
              </a:defRPr>
            </a:pPr>
            <a:r>
              <a:rPr sz="2025" b="1">
                <a:solidFill>
                  <a:srgbClr val="071A3C"/>
                </a:solidFill>
              </a:rPr>
              <a:t>İndirimli ürün toplamı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36620-3A77-467B-AE3F-090258A9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47B9"/>
          </a:solidFill>
          <a:ln xmlns:a="http://schemas.openxmlformats.org/drawingml/2006/main" w="9525">
            <a:solidFill>
              <a:srgbClr val="1547B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3ED5F-8777-42F2-B9E8-C494EA99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1. seviye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0DF6A-9119-4C8D-BDE1-CCB53430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%5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FF24F-254B-471C-98F1-BCFD510E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D70BD-BF3A-4D80-B8CC-3AC6E5A5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2. seviye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2A4B3-DBA8-47C8-8F07-02EC3B59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8809F4-B610-4D6C-8828-E33ECDD2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BB14B-35BB-4E58-9ED4-751B0F37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3. seviye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A1050-2772-4E16-8CB9-17F57353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AAF558-3804-476B-969A-CB6CA28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C5173-BFB4-4BE0-84B8-283DE1CD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4. seviye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FBD80F-D8B3-46A5-9631-C9180445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%0,75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72F504-CAA5-4357-9876-6795B786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4800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958D3-5BC4-4663-B1F2-98DE8F70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6230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5. seviye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B93E7-1B61-4FB7-8548-0EDE9900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1947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619A6F-E93A-4AFE-BE7E-B11A5A1E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6B2D7F-91ED-40DB-B4B6-47C7773D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6. seviye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28934E-1F71-446B-AD1C-19513056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FE3BCC-003D-4CA3-8BB4-9B463B12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835BFD-E5FE-4A5D-B9DE-19F1AFDF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7. seviye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3EDB3-1CE3-4B6C-B056-257DA670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A9D1B9-B958-41B5-BEBA-655CB6A9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E58F22-79C8-4945-9073-E38075B3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8. seviye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C42783-1C53-420A-AB95-BC40B396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2493B2-D513-43EC-A375-DEEF4CD2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0CB6F8-1535-41C6-8CC4-293AC3D3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9. seviye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96644B-97CD-4B7D-9B26-2CF9F9EF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479C88-09DE-4334-AD59-6F5713BB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1719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D7C83C-79E2-47CF-AF19-830573ED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86250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10. seviye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1E3F2F-0AC9-4A34-AE3E-8081CF7F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43425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71A3C"/>
                </a:solidFill>
              </a:defRPr>
            </a:pPr>
            <a:r>
              <a:rPr sz="1875" b="1">
                <a:solidFill>
                  <a:srgbClr val="071A3C"/>
                </a:solidFill>
              </a:rPr>
              <a:t>%0,25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3781B1-2E91-4726-AC29-E7A7CB7E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721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9F62"/>
                </a:solidFill>
              </a:defRPr>
            </a:pPr>
            <a:r>
              <a:rPr sz="1800" b="1">
                <a:solidFill>
                  <a:srgbClr val="0F9F62"/>
                </a:solidFill>
              </a:rPr>
              <a:t>%10 toplam ağ dağıtımı • %90 şirket payı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F39308-EA90-4735-B49E-23F11CFC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20412115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59F089-3F89-47AF-829A-75047FD9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KAZANÇ GÜVENLIĞI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8AA81-FF81-46CB-AD87-9A5294CA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Bir ürün bonusunun oluşması için tüm kapılar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05EFA-04D0-49CB-8DB4-9BD57962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90DBE-3FDB-4F51-A342-29C02BA8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594A2-45CD-4863-897B-E9492798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8E229-53E6-4412-9C22-6709C294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B8E8"/>
                </a:solidFill>
              </a:defRPr>
            </a:pPr>
            <a:r>
              <a:rPr sz="900" b="1">
                <a:solidFill>
                  <a:srgbClr val="34B8E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F31EE-A231-410C-BBFE-EC01A9EB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Kayıtlı kullanıcı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16653-38D3-47C6-B25B-CDA41741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625" y="20383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C6A25-6D2E-4155-ACED-F05EC416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25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C10B8-FFFA-4AD0-AE6B-8A069E46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525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F6FCF-06F7-4DDD-873F-1CC1CEAD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525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Ürün siparişi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5F409-AEAB-4458-A500-CD3E0DFB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20383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3C6C7-3192-433D-9051-F9CCE2D1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6BCB02-7863-41F4-A9F8-4D8E494D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1350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4C925-D891-4152-BE59-9EC7791D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1350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Ödeme: ödendi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11B26D-ECE7-4634-B0A2-C80DA8C3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0383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8A984-EE45-409A-954F-6AFBBD16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CBFCD8-FBF4-4DD2-97D2-EB11C693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194D60-766D-4853-A259-D550889F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Durum: tamamlandı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D3E889-EC00-414C-BB6A-5EB97EFE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100" y="20383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4F11EC-ACE1-4D39-9FFE-C2F354D3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19FF47-43E1-4643-8880-6AAC9F5D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3B5AE0-7BE1-4FAC-ABAE-7AA75799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Aktif lisanslı üst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75FAD4-FF78-438E-85D0-518BD78E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383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0A61B-C4DC-4CE9-8A5A-8661F4B7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4425" y="1714500"/>
            <a:ext cx="16922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C1A39A-38F3-4E0B-8AE8-D97B8FFF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6825" y="1828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0138EB-7992-49FF-AED7-4673489E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6825" y="2095500"/>
            <a:ext cx="138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Kariyer derinliği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6B653A-604D-4A8F-A581-958B264F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67D3E7-9FCF-4E87-A027-8D0DCADD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017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Eğitim ve lisans siparişleri ürün ağ bonusuna dahil edilmez.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6872C7-4447-4634-8CF5-542D3C01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E38548-C8BF-4853-8000-C08BABAD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017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Aynı sipariş için tekrar ödeme yapılmaz; ledger kaydı idempotency anahtarı görevi görür.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E90E8F-1B03-4251-97FF-CA2C52A6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2106D3-922C-4630-8F1C-14EB1FF2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017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İptal veya iade halinde oluşmuş kazançlar ters kayıtla geri alınır.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5F9429-A1B7-4B48-A6C9-9D18EAD4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1D4344-BD45-4C44-9BF8-E736D677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017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Hak kazanamayan kariyer seviyesi atlanır; oran başka üyeye taşınmaz.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52C571-4C1C-48DC-8D53-AE8CABE3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7555654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0FA31E-EB40-42B5-86CE-61A045AE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SIPARIŞ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260B6-703B-4F83-8CF1-5645D99B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Operasyon yaşam döngüsü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75A9E-CE9D-4341-8B08-6130725A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50BFF-230F-4466-B27D-8A4E9F0B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BA6EF-563E-431E-B33F-82DD5E5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62125"/>
            <a:ext cx="2319338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D6DE9-9F7E-4C85-BDDC-37D0861A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B8E8"/>
                </a:solidFill>
              </a:defRPr>
            </a:pPr>
            <a:r>
              <a:rPr sz="900" b="1">
                <a:solidFill>
                  <a:srgbClr val="34B8E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F856D-B00C-453E-AC9B-69C7D36E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43125"/>
            <a:ext cx="2014538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Bekliyor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456A8-A985-4349-8F86-6A49DF7B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763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DB071-6AC1-416A-872E-106DDA52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263" y="1762125"/>
            <a:ext cx="2319338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AAE00-E9F3-4569-9416-F18DA29D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168D8-1914-42F8-AEF9-F6D036FB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2143125"/>
            <a:ext cx="2014538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Hazırlanıyor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F0FE6-6DDA-4DCE-8C39-3C0A5A66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78AFA-05C6-47BB-82AE-34729D92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762125"/>
            <a:ext cx="2319338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3BD0B-1E9D-449C-BA24-27C4CF41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B66B6-D839-4382-B80D-B50D701C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43125"/>
            <a:ext cx="2014538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Kargolandı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8C5F70-5DDB-449C-974E-E5EE30B9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538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61828-CC57-4D1D-BE9F-9F364298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38" y="1762125"/>
            <a:ext cx="2319338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FB78E-A69F-48F6-814C-4E0F46A9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68FE4D-F317-408C-A4B6-D5D243B6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2143125"/>
            <a:ext cx="2014538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Tamamlandı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27130-C041-4263-B364-A177D6A4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8137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Ödeme durumu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7B78F-7465-4E32-9CBB-F3B3081F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1333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5C2C80-4427-4736-ADD6-65AABC8E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176"/>
                </a:solidFill>
              </a:defRPr>
            </a:pPr>
            <a:r>
              <a:rPr sz="975" b="1">
                <a:solidFill>
                  <a:srgbClr val="526176"/>
                </a:solidFill>
              </a:rPr>
              <a:t>Bekliyor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A32241-1183-44FC-B351-B4ECEACB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10000"/>
            <a:ext cx="1333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1E389A-553A-41AA-AB9A-F978BB22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290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Ödendi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183FBB-A17B-4CB7-8662-5F52BE2C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10000"/>
            <a:ext cx="1333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22788B-7A4C-49FC-A1D8-55BDC45B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290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176"/>
                </a:solidFill>
              </a:defRPr>
            </a:pPr>
            <a:r>
              <a:rPr sz="975" b="1">
                <a:solidFill>
                  <a:srgbClr val="526176"/>
                </a:solidFill>
              </a:rPr>
              <a:t>Başarısız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1790A9-5CFF-4B2A-877F-D4AE1681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10000"/>
            <a:ext cx="1333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F3F6F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9171F7-9006-46DC-B63C-644E450D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8290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176"/>
                </a:solidFill>
              </a:defRPr>
            </a:pPr>
            <a:r>
              <a:rPr sz="975" b="1">
                <a:solidFill>
                  <a:srgbClr val="526176"/>
                </a:solidFill>
              </a:rPr>
              <a:t>İade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3D6C21-83A9-4D3D-83D7-55813D10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813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3535"/>
                </a:solidFill>
              </a:defRPr>
            </a:pPr>
            <a:r>
              <a:rPr sz="1050" b="1">
                <a:solidFill>
                  <a:srgbClr val="C73535"/>
                </a:solidFill>
              </a:rPr>
              <a:t>İptal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EE54F9-5DFA-406D-B332-DC6DC7D2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9095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İptal edilen siparişte rezerve stok geri yüklenir; ürün bonusu oluşmuşsa ters işlem uygulanır.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F0F3F9-FA46-467B-9AEC-D8FBA644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176"/>
                </a:solidFill>
              </a:defRPr>
            </a:pPr>
            <a:r>
              <a:rPr sz="1425" b="0">
                <a:solidFill>
                  <a:srgbClr val="526176"/>
                </a:solidFill>
              </a:rPr>
              <a:t>Sipariş ve ödeme durumları birbirinden ayrıdır; finans sözleşmesi her alanı doğrulanmış değerlerle günceller.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E63083-37A7-46A0-9E85-1E6B16E1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3609870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6CECF-5762-4A7D-811D-B9458335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ÖDEME &amp; FATURA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1C92C-CD39-4F1D-B7BA-DBD0D3CB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Finans merkezindeki sözleşme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B3138-0884-471C-88F5-A377A411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7A87D-904B-452A-9622-BDDD8E8D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63FC20-C8DC-46C9-A4E7-2B0708D5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Ödeme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9F121-370B-4EC3-86E4-C9C65706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050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47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1D402-F507-4131-B819-B67C6534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771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pending • paid • failed • refunded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40153-E333-4CB8-BAB4-1DBD20A7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670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Sipariş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22F00-781A-464A-ABB6-497300AF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051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1A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0B331-B314-4121-B28E-CAAB9D58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67025"/>
            <a:ext cx="771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pending • preparing • shipped • completed • cancelled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D03F6-E588-4B13-8575-4384532F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6717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9F62"/>
                </a:solidFill>
              </a:defRPr>
            </a:pPr>
            <a:r>
              <a:rPr sz="1650" b="1">
                <a:solidFill>
                  <a:srgbClr val="0F9F62"/>
                </a:solidFill>
              </a:rPr>
              <a:t>Fatura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49110-D74C-4DAA-9011-8F5FAEFC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05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9F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7DC1D-D96B-4504-B215-7ADBBF07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67175"/>
            <a:ext cx="771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pending • issued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6D74F-632C-4F20-A91B-7742ABAB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81625"/>
            <a:ext cx="11201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790F92-401E-43C3-B111-1B0B1578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74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A3C"/>
                </a:solidFill>
              </a:defRPr>
            </a:pPr>
            <a:r>
              <a:rPr sz="1350" b="1">
                <a:solidFill>
                  <a:srgbClr val="071A3C"/>
                </a:solidFill>
              </a:rPr>
              <a:t>Fatura numarası ve notu saklanır; issued durumunda kesim zamanı atanır, geri alındığında zaman temizlenir.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3EE41-1E09-4AAE-9116-03CC98EE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19290956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EA4AFB-132E-4D1F-8C32-C263F6C9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FINANS MERKEZI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8F689-0823-4707-A0A5-6A6164B2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Admin görünümündeki temel göstergeler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8935C-89A8-481C-B533-46495178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E96A1-B11A-4A6D-A9DD-E58721AD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E41FD-11BC-4CBA-93E0-F4C6C5F7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47B9"/>
                </a:solidFill>
              </a:defRPr>
            </a:pPr>
            <a:r>
              <a:rPr sz="1800" b="1">
                <a:solidFill>
                  <a:srgbClr val="1547B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A818C-4EE4-4D17-AC3C-9B592193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2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056D9-9885-475D-8D4B-170894AF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28875"/>
            <a:ext cx="1857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Ödenen satış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5309E-D1F6-48A0-B1F6-11DE4D76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0037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paid ve iptal değil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392B4-6814-43B6-A94C-84FF0FAF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668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47B9"/>
                </a:solidFill>
              </a:defRPr>
            </a:pPr>
            <a:r>
              <a:rPr sz="18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2BECC-7B7D-4D88-AEA0-5E6C8D01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240D3-0489-4930-B0CA-2348729E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28875"/>
            <a:ext cx="1857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Bekleyen satış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9EF8F4-56B7-4D0D-B530-739CA556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0037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pending ve iptal değil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286F1-9F8F-41F5-BC99-B6AF254B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668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47B9"/>
                </a:solidFill>
              </a:defRPr>
            </a:pPr>
            <a:r>
              <a:rPr sz="18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0FAD2-E096-45A3-B819-1BA70545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7EB971-E84C-4577-BC82-ED6F797F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28875"/>
            <a:ext cx="1857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Fatura bekleyen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7B02D9-B234-4B6D-B9D6-16EB841C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0037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ödenmiş ürün + issued değil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53FEDC-DF04-4707-8E38-3D0C57EB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668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47B9"/>
                </a:solidFill>
              </a:defRPr>
            </a:pPr>
            <a:r>
              <a:rPr sz="18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E674B-F08E-47DB-8F0C-F2ACF56D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0ACE3E-6A9E-4A2B-9505-98A35C64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1857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Toplam kazanç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CC2579-60F6-4F43-8827-5E4C6F50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0037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ledger toplamı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5BFBBE-1BCC-4873-878F-7CF584B1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668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47B9"/>
                </a:solidFill>
              </a:defRPr>
            </a:pPr>
            <a:r>
              <a:rPr sz="180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D560A2-BA9F-4E45-AD5D-5FB59DAD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2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97DCDF-22EB-40C0-B00E-8D0F6C2D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28875"/>
            <a:ext cx="1857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A3C"/>
                </a:solidFill>
              </a:defRPr>
            </a:pPr>
            <a:r>
              <a:rPr sz="1425" b="1">
                <a:solidFill>
                  <a:srgbClr val="071A3C"/>
                </a:solidFill>
              </a:rPr>
              <a:t>Sipariş sayısı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AD6C60-4BF9-4F6F-BF5B-1EEC3D9F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0037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finans kapsamındaki kayıtlar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CB804D-B421-4D41-9C15-B8317148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47B9"/>
                </a:solidFill>
              </a:defRPr>
            </a:pPr>
            <a:r>
              <a:rPr sz="1050" b="1">
                <a:solidFill>
                  <a:srgbClr val="1547B9"/>
                </a:solidFill>
              </a:rPr>
              <a:t>Backend sözleşmesi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610AB7-8552-4212-AED9-B94B08A6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A3C"/>
                </a:solidFill>
              </a:defRPr>
            </a:pPr>
            <a:r>
              <a:rPr sz="1800" b="1">
                <a:solidFill>
                  <a:srgbClr val="071A3C"/>
                </a:solidFill>
              </a:rPr>
              <a:t>GET /admin/finance/overview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965CB7-A866-4008-8B43-08741B07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76250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A3C"/>
                </a:solidFill>
              </a:defRPr>
            </a:pPr>
            <a:r>
              <a:rPr sz="1800" b="1">
                <a:solidFill>
                  <a:srgbClr val="071A3C"/>
                </a:solidFill>
              </a:rPr>
              <a:t>PATCH /admin/orders/:id/finance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B3CF8F-F455-4E3A-9CD2-08316AF6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57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Özet + siparişler + kullanıcı kazançları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1C6CB4-71B1-45EE-B67F-193237CC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2578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Ödeme, sipariş ve fatura güncellemesi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6C38C5-653E-441D-BED3-1ED7E5F8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4746048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59424-FCC7-4625-BFB5-B8101C6A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STOK &amp; FATURA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E8838-B571-454E-9463-7E6BCA60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Sipariş verisinin tutarlılık kuralları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0D2CA-6954-4E26-8AFA-097200B2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71780-697D-483C-B976-938C08FB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B8B8E-DFC6-4294-9558-E1B9A855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47B9"/>
                </a:solidFill>
              </a:defRPr>
            </a:pPr>
            <a:r>
              <a:rPr sz="1875" b="1">
                <a:solidFill>
                  <a:srgbClr val="1547B9"/>
                </a:solidFill>
              </a:rPr>
              <a:t>Stok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871DB-B5B2-40DE-B844-B8B3EADF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76E53-4402-4527-8F96-8D45D376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552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Finite stok sipariş oluşturulurken atomik olarak azalır.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383D21-E3F0-4D5D-9388-7C4C6BB3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27AA7-CAE3-4B7E-840E-B3A7BD5E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4552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Yetersiz stokta sipariş durdurulur.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88518-D921-4F5A-A396-9A8A427A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BBC11-4EB2-48EB-AE60-F74212F3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4552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Eş zamanlı değişiklikte kontrollü tekrar yapılır.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D089D-9084-4E83-B245-05661719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5FB53-1A93-4E65-8EBD-5ACFA5B4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4552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İptalde yalnızca rezerve edilen miktar geri eklenir.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360DCF-6FA4-451D-BA34-05853B3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71625"/>
            <a:ext cx="9525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47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4FBC8E-185A-43A4-82FB-D5882585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9F62"/>
                </a:solidFill>
              </a:defRPr>
            </a:pPr>
            <a:r>
              <a:rPr sz="1875" b="1">
                <a:solidFill>
                  <a:srgbClr val="0F9F62"/>
                </a:solidFill>
              </a:rPr>
              <a:t>Fatura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2C81F2-FF6F-4D48-B62F-A1AFD92C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81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FB42B-061E-4D84-9FDA-0D1069A5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44100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“Sınırsız” ürünlerde stok değişmez.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215EE-D97F-408D-AEB4-EEC3E728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5FD8DB-53CD-43B0-874A-803EF5D8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43200"/>
            <a:ext cx="44100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Fatura yalnızca ürün siparişleri için izlenir.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3E2671-3E6C-43FF-AE90-3324D859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76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927F52-FF5D-4877-A39E-C30D53CB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90900"/>
            <a:ext cx="44100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Ödenen ama faturası kesilmemiş sipariş sayılır.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ABC469-E7CF-4EBC-9289-6C925C5F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24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60F1FD-9551-4409-80A1-9D84F525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38600"/>
            <a:ext cx="44100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Fatura numarası, notu ve kesim tarihi saklanır.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B617F2-13B4-46ED-8866-E358E6E7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202776340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69B7EC-CED5-411B-B82C-4AAFCED6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CÜZDAN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A78DA-2E70-4F1D-99B7-299E4996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Kazançtan çekim talebine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88E5A-5AFF-4E1D-BE1D-37921DCD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87967-46AF-433D-B81B-2179C083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8682F-267D-469E-A745-BF3DC1FE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08306-2BC3-4B6A-9485-0F62A712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B8E8"/>
                </a:solidFill>
              </a:defRPr>
            </a:pPr>
            <a:r>
              <a:rPr sz="900" b="1">
                <a:solidFill>
                  <a:srgbClr val="34B8E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A6B29-0C23-49E5-90CA-60B77532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Hak ediş oluşur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12A80-0FE8-42F4-83E9-82558FF3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710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1B9C5-C6F8-4ED4-973D-E6D236A1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1762125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44D93-D857-453A-AC07-7A3046B7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1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B38C8-7D55-4B9E-B6EC-64A9E985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10" y="2143125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Ledger kaydı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EDA97-6B6E-47E5-AEE9-ECA1FD1A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4420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909A48-F517-4A0B-B5F0-EA3C34E8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762125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DD2B8-4E5A-4849-8B4C-20E3AF38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32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ADA5C7-BE75-42A1-AB35-A786C459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320" y="2143125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Bakiye artar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C52DF2-0D2E-471A-91FF-0C5419B7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4549E-9592-43F3-B33A-FC931AA0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1762125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C4472-8752-43ED-BD94-7B9AD156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100A9B-030D-4453-AD3D-7D2C3619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143125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Kullanıcı talep açar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7A9013-DE0A-44FD-A81C-8F6FF776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20859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47B9"/>
                </a:solidFill>
              </a:defRPr>
            </a:pPr>
            <a:r>
              <a:rPr sz="1500" b="1">
                <a:solidFill>
                  <a:srgbClr val="1547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3ADD2-76AE-430E-B7D4-FAAFD99D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1762125"/>
            <a:ext cx="204216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7C48F-618E-458F-86F6-329A4388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18764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47B9"/>
                </a:solidFill>
              </a:defRPr>
            </a:pPr>
            <a:r>
              <a:rPr sz="90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C27FBA-9383-4925-A39D-B339BC01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2143125"/>
            <a:ext cx="173736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Admin sonuçlandırır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315F0-9A51-43E0-A5C4-43936FC4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4857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F24153-3783-4F87-B31F-2659795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34B8E8"/>
                </a:solidFill>
              </a:defRPr>
            </a:pPr>
            <a:r>
              <a:rPr sz="2925" b="1">
                <a:solidFill>
                  <a:srgbClr val="34B8E8"/>
                </a:solidFill>
              </a:rPr>
              <a:t>5.000 TL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22E034-6309-4542-8AF2-A2E6A952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Minimum çekim talebi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7895B-B190-495B-86B4-C6371D5D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29000"/>
            <a:ext cx="58864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95950-8C60-4125-BF55-A83B623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24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6A6E19-945E-4675-B9F4-63999928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Bakiye minimumun altında ise form pasif.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107A59-69C9-4188-9454-5F4493CD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81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25D26B-66FF-4D72-9E09-F69CF58E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95750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Aynı anda yalnızca bir bekleyen talep.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77DA47-1418-42F0-B856-E3282CD2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38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47B9"/>
          </a:solidFill>
          <a:ln xmlns:a="http://schemas.openxmlformats.org/drawingml/2006/main" w="0">
            <a:solidFill>
              <a:srgbClr val="1547B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13A3D3-A8B2-4E20-8EC9-9D4FA0A5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52950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Geçmiş talepler kullanıcıya gösterilir.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449CCC-82AA-4F72-A47B-81C73CF4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721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Kazançlarım ekranı 5 saniyelik aralıklarla yenilenerek yeni ödemeleri görünür kılar.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D99C3D-AA72-48B0-8037-74E49DD8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43326027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5E525-F3EA-4828-969B-F19D657D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KARIYER HAVUZLARI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41694-7447-412F-A681-8AE549AE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Şirket kârından ek paylaşım katmanı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590A2-3962-4C33-A614-03D5CF5F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EEDD7-1C05-4B9E-8817-8C24EAFD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D18E1-5EDF-43CE-A590-C4239F43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342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8C976-AA4B-4C5E-9F71-DC2F9253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Platin havuzu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4EBD3-FAE1-4D2C-A635-DF017517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547B9"/>
                </a:solidFill>
              </a:defRPr>
            </a:pPr>
            <a:r>
              <a:rPr sz="3150" b="1">
                <a:solidFill>
                  <a:srgbClr val="1547B9"/>
                </a:solidFill>
              </a:rPr>
              <a:t>%2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D6C2F0-1DF9-48ED-A96E-DD02DA37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A0E8C9-1EE1-4CD7-8200-0335B504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Platin ve üzeri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508C9-278E-414B-B0E5-34B55CB6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714500"/>
            <a:ext cx="342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1A3C"/>
          </a:solidFill>
          <a:ln xmlns:a="http://schemas.openxmlformats.org/drawingml/2006/main" w="9525">
            <a:solidFill>
              <a:srgbClr val="071A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90E7F2-C4CD-492D-8CC4-715780A4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002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Elmas havuzu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07CB3-5249-4B99-8605-4E72B5BB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4B8E8"/>
                </a:solidFill>
              </a:defRPr>
            </a:pPr>
            <a:r>
              <a:rPr sz="3150" b="1">
                <a:solidFill>
                  <a:srgbClr val="34B8E8"/>
                </a:solidFill>
              </a:rPr>
              <a:t>%10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94364-5FC3-4D7F-9119-4A20EF2C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517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3E62F-28B2-41BD-BF70-C0627C7D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Elmas ve üzeri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F8385-BC23-4069-B885-3362DB1D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14500"/>
            <a:ext cx="342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5A98F-4B40-4365-99FD-7B53E88B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Sözleşmeli Elmas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07205-616B-43DF-9AAD-EB4E2040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14625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547B9"/>
                </a:solidFill>
              </a:defRPr>
            </a:pPr>
            <a:r>
              <a:rPr sz="3150" b="1">
                <a:solidFill>
                  <a:srgbClr val="1547B9"/>
                </a:solidFill>
              </a:rPr>
              <a:t>%2,5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B8425-FD24-4E9C-B007-43FEC4A2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38550"/>
            <a:ext cx="297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F7C2B-2DB1-4D9A-B8D7-15C9A06E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6"/>
                </a:solidFill>
              </a:defRPr>
            </a:pPr>
            <a:r>
              <a:rPr sz="1275" b="0">
                <a:solidFill>
                  <a:srgbClr val="526176"/>
                </a:solidFill>
              </a:rPr>
              <a:t>Sözleşmeli Elmas üyeler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1DF08-1970-459D-AB5C-75645C8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816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3C"/>
                </a:solidFill>
              </a:defRPr>
            </a:pPr>
            <a:r>
              <a:rPr sz="1575" b="1">
                <a:solidFill>
                  <a:srgbClr val="071A3C"/>
                </a:solidFill>
              </a:rPr>
              <a:t>Havuz tutarı, ilgili kariyerdeki aktif lisanslı üyeler arasında eşit paylaştırılır.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329BEC-2DFE-42A9-A7A7-E82C0654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50973219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0C0A4A-EA4D-458D-ACB0-33633922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ADMIN OPERASYONU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23E06-E94A-453A-996D-1607D2B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Tek panelden günlük yönetim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89088-9EB9-462D-A22E-2302AB8F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26D41-C2D8-4A22-AD71-FCE2B388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FCDBC-F90B-4000-9EEE-3F93628B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3EF81-6F35-4BAE-B144-458DAC64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1925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Ürün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E1FAC-30AC-409E-A575-7786D448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431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A0870-A81B-4E34-85A6-AC6B5DD6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431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Ekle, düzenle, aktif/pasif, stok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EC357-733B-4BCE-8CCF-B78E416D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C0F69-9F99-47F6-9A24-EB73817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61925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Sipariş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B9E59-D922-41F5-98BB-56E949BB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431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5208DC-EB78-42B3-B246-88024392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3431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Durum, ödeme, kargo, iptal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E7FD31-E2E2-408C-8FF5-3BCA9720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95A6B-3ADF-45A4-AAD9-27E7DCFE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1925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Finans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1AC2B5-C94F-4F4E-936A-56396BEC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431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F7BB7-0377-4788-90E9-F09CEF45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Özet, kazanç, fatura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09195-0FFF-4540-8EBD-866F9ACB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437D00-9FE9-4255-BDB1-F53D89C1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Kullanıcı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D3E657-FB48-4B78-BDE7-2956337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528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BEACC-94FE-46EE-8B37-47C77A50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52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Aktiflik, lisans, rol, kariyer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77337E-F8ED-472E-9C43-1F1A797C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4290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F62C91-F538-48DA-B0AE-C2B9FD30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42900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Çekim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501660-B329-4F05-96A5-BCFF63B9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528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450458-A71A-40E1-B379-92057084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152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Bekleyen talepleri sonuçlandır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294F1F-FA8C-42B2-AF57-9A1C1959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290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54DAF7-FCBD-4555-B19D-0A47A7AC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2900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A3C"/>
                </a:solidFill>
              </a:defRPr>
            </a:pPr>
            <a:r>
              <a:rPr sz="1650" b="1">
                <a:solidFill>
                  <a:srgbClr val="071A3C"/>
                </a:solidFill>
              </a:rPr>
              <a:t>Sistem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72571B-0649-4C15-B9C9-0F42E77A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528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C47184-0120-4716-9ABF-ED860F3D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52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6"/>
                </a:solidFill>
              </a:defRPr>
            </a:pPr>
            <a:r>
              <a:rPr sz="1200" b="0">
                <a:solidFill>
                  <a:srgbClr val="526176"/>
                </a:solidFill>
              </a:rPr>
              <a:t>Duyuru, ayar ve denetim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3694D8-57EB-4CAE-BCB7-2414C5CE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3535"/>
                </a:solidFill>
              </a:defRPr>
            </a:pPr>
            <a:r>
              <a:rPr sz="1500" b="1">
                <a:solidFill>
                  <a:srgbClr val="C73535"/>
                </a:solidFill>
              </a:rPr>
              <a:t>Kritik prensip: finansal alanlar serbest metin değil, doğrulanan durum sözleşmeleriyle güncellenir.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84BF57-DD9B-41BE-818D-7F01B926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44531538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389E9B-6B23-4CBE-BB06-65A609E2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MOBIL DENEYIM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35831-433C-4021-B4CC-0DD158CB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Küçük ekranda ana görevleri koruyan yapı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625F7-7700-499E-862D-7EA7CF3D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4EBFD-0191-4D6F-A3AE-F5E50869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8AC5E-1F55-4328-8B3D-E10FBCEB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Gezinme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49938-DBB8-4FE3-B2F4-3B0A7EB6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A3C"/>
                </a:solidFill>
              </a:defRPr>
            </a:pPr>
            <a:r>
              <a:rPr sz="1350" b="0">
                <a:solidFill>
                  <a:srgbClr val="071A3C"/>
                </a:solidFill>
              </a:rPr>
              <a:t>Mobil menü; dil, sepet ve oturum erişimi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2729-D05B-466E-8AB8-D7BD688A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95525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A72EC-A64F-4931-A57C-56F06956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384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Sepet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AA76E-3790-4D6C-A34A-94950A55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3842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A3C"/>
                </a:solidFill>
              </a:defRPr>
            </a:pPr>
            <a:r>
              <a:rPr sz="1350" b="0">
                <a:solidFill>
                  <a:srgbClr val="071A3C"/>
                </a:solidFill>
              </a:rPr>
              <a:t>Ürün fiyatı altında miktar ve işlem kontrolleri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3B2A65-6B8F-4D03-83D4-F5472CDC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62325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CE3D4-08EF-4E1C-A5F6-58A69FA4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6D2939-A91C-4474-947C-310DF3F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0522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A3C"/>
                </a:solidFill>
              </a:defRPr>
            </a:pPr>
            <a:r>
              <a:rPr sz="1350" b="0">
                <a:solidFill>
                  <a:srgbClr val="071A3C"/>
                </a:solidFill>
              </a:rPr>
              <a:t>Kazanç, sipariş, Unilevel ve Matrix bölümleri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D887E-20B5-4ED5-B0AC-BB1D461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29125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4CEF4-8268-463D-8B5C-E3130E22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720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47B9"/>
                </a:solidFill>
              </a:defRPr>
            </a:pPr>
            <a:r>
              <a:rPr sz="1650" b="1">
                <a:solidFill>
                  <a:srgbClr val="1547B9"/>
                </a:solidFill>
              </a:rPr>
              <a:t>Admin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C2275A-14BA-45E3-9F6A-F0D20DA7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7202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A3C"/>
                </a:solidFill>
              </a:defRPr>
            </a:pPr>
            <a:r>
              <a:rPr sz="1350" b="0">
                <a:solidFill>
                  <a:srgbClr val="071A3C"/>
                </a:solidFill>
              </a:rPr>
              <a:t>Tablolar yatay kaydırma ve kompakt aksiyonlar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79789-7501-4A63-AD4B-283003FA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95925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E11E8-32D4-4E03-9D01-E8E3597F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176"/>
                </a:solidFill>
              </a:defRPr>
            </a:pPr>
            <a:r>
              <a:rPr sz="1425" b="1">
                <a:solidFill>
                  <a:srgbClr val="526176"/>
                </a:solidFill>
              </a:rPr>
              <a:t>Öncelik sırası: okunabilirlik → dokunma alanı → kritik aksiyon → ayrıntılı tablo.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6251A-6EB0-4445-B55E-2F83ADDC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3877509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4931C4-BCCD-4807-B32D-562D30D0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47B9"/>
                </a:solidFill>
              </a:defRPr>
            </a:pPr>
            <a:r>
              <a:rPr sz="975" b="1">
                <a:solidFill>
                  <a:srgbClr val="1547B9"/>
                </a:solidFill>
              </a:rPr>
              <a:t>KONTROL LISTESI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59FA6-17BC-4F7B-B5E3-FCEC2B68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71A3C"/>
                </a:solidFill>
              </a:defRPr>
            </a:pPr>
            <a:r>
              <a:rPr sz="2700" b="1">
                <a:solidFill>
                  <a:srgbClr val="071A3C"/>
                </a:solidFill>
              </a:rPr>
              <a:t>Kritik akışlar için kabul testleri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0DDAF-DAAA-4228-A9B4-5AE2CA7E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B0D32-58CE-4E85-94F2-3515016B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48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176"/>
                </a:solidFill>
              </a:defRPr>
            </a:pPr>
            <a:r>
              <a:rPr sz="900" b="1">
                <a:solidFill>
                  <a:srgbClr val="526176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69683-3166-4515-ABFC-EC960E58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52C6A-A421-4DF8-9D56-D22639F1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6212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A7F2E-C9A6-40B1-BE3E-01520F9C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811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86DAF-291A-4344-AE6F-FA5BF4CF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383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Lisans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6832E2-2057-45C3-847C-9A0700A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1452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Aktivasyon → Matrix yerleşimi → ilk Unilevel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EE832-43E4-4EA7-BB3A-8FCD0322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2400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BA4CF-CA7A-48C6-BDFD-9BDF611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6212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0431E-51BD-4033-9CFA-904D9865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741438-71FA-49FD-BE60-16183DBA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383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Unilevel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94D53-524B-436D-9F1A-5C26B392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1452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10 seviye oranı + kariyer kilidi + tekrar koruması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6B0BD-584E-4E80-8776-645DC541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4A96D-6631-4296-8EFE-861B2230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987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E6638-6A0F-4FBD-89E1-0AC25728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89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933D5-427D-486A-ACE7-650C87AF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86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Matrix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68111-C0CA-4195-858C-1E626F99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6227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Aylık vade → %3 → 12/13/14/15 derinlik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A6EC3-89CA-4636-8359-5B786ABE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56F772-2189-4293-8FDE-A2F16D73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0987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22B98-991D-40BA-8F21-DB96C3A2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289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49EB5E-CFA0-4854-A9CB-2B3AB0C7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Ürün bonusu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39B17A-62A2-46FA-85C4-1C8F0070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6227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Normal ve indirimli mod → ödendi + tamamlandı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B25093-E056-41D6-8097-269AD50D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4DD24F-07E5-4055-9555-F017AF40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CB4FFF-550F-42E4-9ECB-E01D86B9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6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DA3E79-68AC-49C4-872B-2441FD2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İade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9DE4EB-3A5B-462B-9189-B32EDBE0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002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Kazanç ters kaydı + stok restorasyonu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46C589-8687-476C-A0BF-565BD742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1950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785B2E-24AB-4663-B935-DE707577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5762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448CD1-DD99-4A7B-B392-1FECC674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76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DC102B-D917-49CF-9B81-E90800C9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338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Finans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3A8BE0-042A-4F48-822F-4F449B3B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1002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Overview toplamları + fatura durum sözleşmesi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FCD314-F537-4128-B863-F947E2C2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6725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9E041E-6664-41A9-968F-6A95637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0537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4A77E5-E082-4D79-8ACB-BFA803FE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FECBA8-D081-427F-B46D-E492F2A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Cüzdan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E7C42B-50DB-4BC6-ABA7-D7A25D77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5777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Anlık yansıma + 5.000 TL çekim alt sınırı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5C8554-2F89-41CF-A3CE-6AEE353A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67250"/>
            <a:ext cx="5334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A884A2-D9FA-4A54-A2F3-91555B91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05375"/>
            <a:ext cx="4000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9525">
            <a:solidFill>
              <a:srgbClr val="E9F8F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CF0E91-C785-46C7-B890-5CB02A07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24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9F62"/>
                </a:solidFill>
              </a:defRPr>
            </a:pPr>
            <a:r>
              <a:rPr sz="975" b="1">
                <a:solidFill>
                  <a:srgbClr val="0F9F62"/>
                </a:solidFill>
              </a:rPr>
              <a:t>✓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D09F7D-364D-473D-9821-9840EC08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815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A3C"/>
                </a:solidFill>
              </a:defRPr>
            </a:pPr>
            <a:r>
              <a:rPr sz="1200" b="1">
                <a:solidFill>
                  <a:srgbClr val="071A3C"/>
                </a:solidFill>
              </a:rPr>
              <a:t>Mobil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F3912E-2F20-416D-B13F-12D72307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57775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76"/>
                </a:solidFill>
              </a:defRPr>
            </a:pPr>
            <a:r>
              <a:rPr sz="1125" b="0">
                <a:solidFill>
                  <a:srgbClr val="526176"/>
                </a:solidFill>
              </a:rPr>
              <a:t>320–430 px görünüm ve dokunma kontrolleri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350285-A6A2-420C-A8A8-636B59F4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47B9"/>
                </a:solidFill>
              </a:defRPr>
            </a:pPr>
            <a:r>
              <a:rPr sz="1350" b="1">
                <a:solidFill>
                  <a:srgbClr val="1547B9"/>
                </a:solidFill>
              </a:rPr>
              <a:t>Başarı ölçütü: aynı iş olayı stokta, finans özetinde ve kazanç defterinde çelişkili sonuç üretmemeli.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E0E710-171F-4A9C-8087-A34C4991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76"/>
                </a:solidFill>
              </a:defRPr>
            </a:pPr>
            <a:r>
              <a:rPr sz="825" b="0">
                <a:solidFill>
                  <a:srgbClr val="526176"/>
                </a:solidFill>
              </a:rPr>
              <a:t>FTSLine • Geleceğe yön ver</a:t>
            </a:r>
          </a:p>
        </p:txBody>
      </p:sp>
    </p:spTree>
    <p:extLst>
      <p:ext uri="{BB962C8B-B14F-4D97-AF65-F5344CB8AC3E}">
        <p14:creationId xmlns:p14="http://schemas.microsoft.com/office/powerpoint/2010/main" val="100883876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A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6b3a2981b74fd1"/>
          <a:stretch xmlns:a="http://schemas.openxmlformats.org/drawingml/2006/main"/>
        </p:blipFill>
        <p:spPr>
          <a:xfrm xmlns:a="http://schemas.openxmlformats.org/drawingml/2006/main">
            <a:off x="1089743" y="457200"/>
            <a:ext cx="735164" cy="7143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90EC0-5562-47CA-9DF9-0AB3D1EE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FTSLine’ın gücü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B19FE-2DC8-4EE8-BADD-F766C0FE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7E5FF"/>
                </a:solidFill>
              </a:defRPr>
            </a:pPr>
            <a:r>
              <a:rPr sz="2025" b="0">
                <a:solidFill>
                  <a:srgbClr val="D7E5FF"/>
                </a:solidFill>
              </a:rPr>
              <a:t>Ticaret, üyelik, ağ yapısı ve finansal hareketlerin tek doğrulanabilir sistemde birleşmesi.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EDE7D-AF42-4335-8A94-F89E5CCF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1517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2EC46-61B2-441F-BA35-E5682512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962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B8E8"/>
                </a:solidFill>
              </a:defRPr>
            </a:pPr>
            <a:r>
              <a:rPr sz="1350" b="1">
                <a:solidFill>
                  <a:srgbClr val="34B8E8"/>
                </a:solidFill>
              </a:rPr>
              <a:t>Net kurallar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3BF6F-BFFC-4EB6-8073-9F92301D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19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B8E8"/>
                </a:solidFill>
              </a:defRPr>
            </a:pPr>
            <a:r>
              <a:rPr sz="1350" b="1">
                <a:solidFill>
                  <a:srgbClr val="34B8E8"/>
                </a:solidFill>
              </a:rPr>
              <a:t>İzlenebilir kazanç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3742FA-2C6F-4AED-B6F1-3C012072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9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B8E8"/>
                </a:solidFill>
              </a:defRPr>
            </a:pPr>
            <a:r>
              <a:rPr sz="1350" b="1">
                <a:solidFill>
                  <a:srgbClr val="34B8E8"/>
                </a:solidFill>
              </a:rPr>
              <a:t>Yönetilebilir operasyon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F4050-1345-4C28-BA18-B711AB5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00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ftsline.vercel.app</a:t>
            </a:r>
          </a:p>
        </p:txBody>
      </p:sp>
    </p:spTree>
    <p:extLst>
      <p:ext uri="{BB962C8B-B14F-4D97-AF65-F5344CB8AC3E}">
        <p14:creationId xmlns:p14="http://schemas.microsoft.com/office/powerpoint/2010/main" val="12270979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2026-07-28T17:48:30.9010000Z</dcterms:created>
  <dcterms:modified xsi:type="dcterms:W3CDTF">2026-07-28T17:48:30.9020000Z</dcterms:modified>
</coreProperties>
</file>